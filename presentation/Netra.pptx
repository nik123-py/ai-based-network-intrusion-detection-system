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Netra detects network attacks and then acts on them. Three detection methods, one fusion policy, and an automated response that is always time-limited and reversible.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gap: precision vs generalisation, and detection vs response. The honest framing at the bottom sets up the negative finding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detect, respond, demonstrate. The third is what separates this from a pure ML exercise.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threads: dataset quality (3, 5, 6) and method (2, 4, 1). Engelen is highlighted because this project reproduced its finding and it changed the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Emphasise that the signature path short-circuits the flow assembly, which is why the live demo fires in a second.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rules are what make the live demo fire instantly. Be upfront that the demo attacks are ones the rules cover.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contrast: supervised models need labels and cover known families; the autoencoder needs no attack labels at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Priority order, then corroboration. Sustained attacks generate many flows from one source, so corroboration costs almost nothing in recall.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safety properties are the argument that automated response is responsible rather than reckless: timed, contained, and with a never-block 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duplicate figure is the headline: 22% of the published dataset. Cross-split duplicate vectors are verified to be zero after splitting.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training is capped. That is what makes the headline metrics honest.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macro F1, not accuracy. Accuracy is high mostly because benign dominates.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hide the WebAttack collapse. It is the honest limit of header-only features and it motivates the payload-inspection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Benign row, not the WebAttack row. The lite model finds the same 309 of 321 WebAttack flows as the full model. What it loses is precision: 1,821 benign flows are labelled WebAttack, so the class becomes unusable in practice even though recall is identical.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complementarity argument: the autoencoder is strong precisely where it is cheap to be strong, and the supervised models cover the rest. It needs no attack labels at all,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containment first. Then the SPAN-port equivalence, which is the Packet Tracer topology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Packet Tracer models the topology and traffic paths; the Docker lab performs the actual detection. Build steps are in docs/PACKET_TRACER_GUIDE.md.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attack detected in about a second and answered with a real, timed DROP rule that expired on its own. The benign baseline raised nothing.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real app during the demo rather than dwelling on these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valuable result in the project and it is a negative one. It independently reproduces Engelen et al. 2021 and it changed the design.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Stating limits precisely is stronger than overclaiming, and it is where most viva questions come from.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Ordered by expected value. Cross-dataset evaluation is first precisely because of the flag-counter finding.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negative finding. It is the most defensible contribution.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57400"/>
            <a:ext cx="10545775" cy="914400"/>
          </a:xfrm>
          <a:prstGeom prst="rect">
            <a:avLst/>
          </a:prstGeom>
          <a:noFill/>
        </p:spPr>
        <p:txBody>
          <a:bodyPr wrap="square">
            <a:spAutoFit/>
          </a:bodyPr>
          <a:lstStyle/>
          <a:p>
            <a:pPr algn="l">
              <a:spcAft>
                <a:spcPts val="0"/>
              </a:spcAft>
            </a:pPr>
            <a:r>
              <a:rPr sz="6400" b="1" i="0">
                <a:solidFill>
                  <a:srgbClr val="FFFFFF"/>
                </a:solidFill>
                <a:latin typeface="Segoe UI"/>
              </a:rPr>
              <a:t>NETRA</a:t>
            </a:r>
          </a:p>
        </p:txBody>
      </p:sp>
      <p:sp>
        <p:nvSpPr>
          <p:cNvPr id="4" name="TextBox 3"/>
          <p:cNvSpPr txBox="1"/>
          <p:nvPr/>
        </p:nvSpPr>
        <p:spPr>
          <a:xfrm>
            <a:off x="822960" y="3017520"/>
            <a:ext cx="10545775" cy="548640"/>
          </a:xfrm>
          <a:prstGeom prst="rect">
            <a:avLst/>
          </a:prstGeom>
          <a:noFill/>
        </p:spPr>
        <p:txBody>
          <a:bodyPr wrap="square">
            <a:spAutoFit/>
          </a:bodyPr>
          <a:lstStyle/>
          <a:p>
            <a:pPr algn="l">
              <a:spcAft>
                <a:spcPts val="0"/>
              </a:spcAft>
            </a:pPr>
            <a:r>
              <a:rPr sz="2400" b="0" i="0">
                <a:solidFill>
                  <a:srgbClr val="0EA5E9"/>
                </a:solidFill>
                <a:latin typeface="Segoe UI"/>
              </a:rPr>
              <a:t>Network Threat Recognition and Automated response</a:t>
            </a:r>
          </a:p>
        </p:txBody>
      </p:sp>
      <p:sp>
        <p:nvSpPr>
          <p:cNvPr id="5" name="Rectangle 4"/>
          <p:cNvSpPr/>
          <p:nvPr/>
        </p:nvSpPr>
        <p:spPr>
          <a:xfrm>
            <a:off x="822960" y="3794760"/>
            <a:ext cx="201168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114800"/>
            <a:ext cx="10545775" cy="1097280"/>
          </a:xfrm>
          <a:prstGeom prst="rect">
            <a:avLst/>
          </a:prstGeom>
          <a:noFill/>
        </p:spPr>
        <p:txBody>
          <a:bodyPr wrap="square">
            <a:spAutoFit/>
          </a:bodyPr>
          <a:lstStyle/>
          <a:p>
            <a:pPr algn="l">
              <a:spcAft>
                <a:spcPts val="600"/>
              </a:spcAft>
            </a:pPr>
            <a:r>
              <a:rPr sz="1700" b="0" i="0">
                <a:solidFill>
                  <a:srgbClr val="CBD5E1"/>
                </a:solidFill>
                <a:latin typeface="Segoe UI"/>
              </a:rPr>
              <a:t>A hybrid intrusion detection and response system:</a:t>
            </a:r>
          </a:p>
          <a:p>
            <a:pPr>
              <a:spcAft>
                <a:spcPts val="600"/>
              </a:spcAft>
            </a:pPr>
            <a:r>
              <a:rPr sz="1700" b="0" i="0">
                <a:solidFill>
                  <a:srgbClr val="CBD5E1"/>
                </a:solidFill>
                <a:latin typeface="Segoe UI"/>
              </a:rPr>
              <a:t>signature rules + supervised learning + unsupervised anomaly detection,</a:t>
            </a:r>
          </a:p>
          <a:p>
            <a:pPr>
              <a:spcAft>
                <a:spcPts val="600"/>
              </a:spcAft>
            </a:pPr>
            <a:r>
              <a:rPr sz="1700" b="0" i="0">
                <a:solidFill>
                  <a:srgbClr val="CBD5E1"/>
                </a:solidFill>
                <a:latin typeface="Segoe UI"/>
              </a:rPr>
              <a:t>with automated, time-limited firewall response.</a:t>
            </a:r>
          </a:p>
        </p:txBody>
      </p:sp>
      <p:sp>
        <p:nvSpPr>
          <p:cNvPr id="7" name="TextBox 6"/>
          <p:cNvSpPr txBox="1"/>
          <p:nvPr/>
        </p:nvSpPr>
        <p:spPr>
          <a:xfrm>
            <a:off x="822960" y="5669280"/>
            <a:ext cx="10545775" cy="548640"/>
          </a:xfrm>
          <a:prstGeom prst="rect">
            <a:avLst/>
          </a:prstGeom>
          <a:noFill/>
        </p:spPr>
        <p:txBody>
          <a:bodyPr wrap="square">
            <a:spAutoFit/>
          </a:bodyPr>
          <a:lstStyle/>
          <a:p>
            <a:pPr algn="l">
              <a:spcAft>
                <a:spcPts val="600"/>
              </a:spcAft>
            </a:pPr>
            <a:r>
              <a:rPr sz="1300" b="0" i="0">
                <a:solidFill>
                  <a:srgbClr val="64748B"/>
                </a:solidFill>
                <a:latin typeface="Segoe UI"/>
              </a:rPr>
              <a:t>Trained and evaluated on CIC-IDS2017  |  Validated live in an isolated Docker attack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THE PROBLEM</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Detection alone is not a system</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2</a:t>
            </a:r>
          </a:p>
        </p:txBody>
      </p:sp>
      <p:sp>
        <p:nvSpPr>
          <p:cNvPr id="6" name="TextBox 5"/>
          <p:cNvSpPr txBox="1"/>
          <p:nvPr/>
        </p:nvSpPr>
        <p:spPr>
          <a:xfrm>
            <a:off x="822960" y="1783080"/>
            <a:ext cx="10545775" cy="4434840"/>
          </a:xfrm>
          <a:prstGeom prst="rect">
            <a:avLst/>
          </a:prstGeom>
          <a:noFill/>
        </p:spPr>
        <p:txBody>
          <a:bodyPr wrap="square">
            <a:spAutoFit/>
          </a:bodyPr>
          <a:lstStyle/>
          <a:p>
            <a:pPr algn="l">
              <a:spcAft>
                <a:spcPts val="1600"/>
              </a:spcAft>
            </a:pPr>
            <a:r>
              <a:rPr sz="1800">
                <a:solidFill>
                  <a:srgbClr val="334155"/>
                </a:solidFill>
                <a:latin typeface="Segoe UI"/>
              </a:rPr>
              <a:t>•  Signature systems are precise and explainable, but blind to any attack nobody wrote a rule for.</a:t>
            </a:r>
          </a:p>
          <a:p>
            <a:pPr>
              <a:spcAft>
                <a:spcPts val="1600"/>
              </a:spcAft>
            </a:pPr>
            <a:r>
              <a:rPr sz="1800">
                <a:solidFill>
                  <a:srgbClr val="334155"/>
                </a:solidFill>
                <a:latin typeface="Segoe UI"/>
              </a:rPr>
              <a:t>•  Anomaly systems generalise to unknown attacks, but produce alert volumes operators learn to ignore.</a:t>
            </a:r>
          </a:p>
          <a:p>
            <a:pPr>
              <a:spcAft>
                <a:spcPts val="1600"/>
              </a:spcAft>
            </a:pPr>
            <a:r>
              <a:rPr sz="1800">
                <a:solidFill>
                  <a:srgbClr val="334155"/>
                </a:solidFill>
                <a:latin typeface="Segoe UI"/>
              </a:rPr>
              <a:t>•  Most academic work stops at offline accuracy on a benchmark. An alert that nobody reads changes nothing.</a:t>
            </a:r>
          </a:p>
          <a:p>
            <a:pPr>
              <a:spcAft>
                <a:spcPts val="1600"/>
              </a:spcAft>
            </a:pPr>
            <a:r>
              <a:rPr sz="1800">
                <a:solidFill>
                  <a:srgbClr val="B91C1C"/>
                </a:solidFill>
                <a:latin typeface="Segoe UI"/>
              </a:rPr>
              <a:t>•  Offline metrics are also optimistic: benchmark datasets carry artefacts that models happily learn (shown later in this deck).</a:t>
            </a:r>
          </a:p>
        </p:txBody>
      </p:sp>
      <p:sp>
        <p:nvSpPr>
          <p:cNvPr id="7" name="Rounded Rectangle 6"/>
          <p:cNvSpPr/>
          <p:nvPr/>
        </p:nvSpPr>
        <p:spPr>
          <a:xfrm>
            <a:off x="822960" y="4480560"/>
            <a:ext cx="10545775" cy="123444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97280" y="4645152"/>
            <a:ext cx="9997135" cy="914400"/>
          </a:xfrm>
          <a:prstGeom prst="rect">
            <a:avLst/>
          </a:prstGeom>
          <a:noFill/>
        </p:spPr>
        <p:txBody>
          <a:bodyPr wrap="square">
            <a:spAutoFit/>
          </a:bodyPr>
          <a:lstStyle/>
          <a:p>
            <a:pPr algn="l">
              <a:spcAft>
                <a:spcPts val="600"/>
              </a:spcAft>
            </a:pPr>
            <a:r>
              <a:rPr sz="1300" b="1" i="0">
                <a:solidFill>
                  <a:srgbClr val="0EA5E9"/>
                </a:solidFill>
                <a:latin typeface="Segoe UI"/>
              </a:rPr>
              <a:t>The question this project asks</a:t>
            </a:r>
          </a:p>
          <a:p>
            <a:pPr>
              <a:spcAft>
                <a:spcPts val="600"/>
              </a:spcAft>
            </a:pPr>
            <a:r>
              <a:rPr sz="1700" b="0" i="0">
                <a:solidFill>
                  <a:srgbClr val="0F172A"/>
                </a:solidFill>
                <a:latin typeface="Segoe UI"/>
              </a:rPr>
              <a:t>Can the three detection approaches be combined under an explicit policy, coupled to a safe automated response, and shown to work on real packets rather than only on a benchmark?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SCOPE</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Objectives</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3</a:t>
            </a:r>
          </a:p>
        </p:txBody>
      </p:sp>
      <p:sp>
        <p:nvSpPr>
          <p:cNvPr id="6" name="Rounded Rectangle 5"/>
          <p:cNvSpPr/>
          <p:nvPr/>
        </p:nvSpPr>
        <p:spPr>
          <a:xfrm>
            <a:off x="822960" y="1828800"/>
            <a:ext cx="10545775" cy="1170432"/>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78992" y="2103120"/>
            <a:ext cx="566928" cy="566928"/>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Aft>
                <a:spcPts val="0"/>
              </a:spcAft>
            </a:pPr>
            <a:r>
              <a:rPr sz="2000" b="1" i="0">
                <a:solidFill>
                  <a:srgbClr val="FFFFFF"/>
                </a:solidFill>
                <a:latin typeface="Segoe UI"/>
              </a:rPr>
              <a:t>1</a:t>
            </a:r>
          </a:p>
        </p:txBody>
      </p:sp>
      <p:sp>
        <p:nvSpPr>
          <p:cNvPr id="8" name="TextBox 7"/>
          <p:cNvSpPr txBox="1"/>
          <p:nvPr/>
        </p:nvSpPr>
        <p:spPr>
          <a:xfrm>
            <a:off x="1874520" y="2011680"/>
            <a:ext cx="9174175" cy="914400"/>
          </a:xfrm>
          <a:prstGeom prst="rect">
            <a:avLst/>
          </a:prstGeom>
          <a:noFill/>
        </p:spPr>
        <p:txBody>
          <a:bodyPr wrap="square">
            <a:spAutoFit/>
          </a:bodyPr>
          <a:lstStyle/>
          <a:p>
            <a:pPr algn="l">
              <a:spcAft>
                <a:spcPts val="200"/>
              </a:spcAft>
            </a:pPr>
            <a:r>
              <a:rPr sz="1900" b="1" i="0">
                <a:solidFill>
                  <a:srgbClr val="0F172A"/>
                </a:solidFill>
                <a:latin typeface="Segoe UI"/>
              </a:rPr>
              <a:t>Detect</a:t>
            </a:r>
          </a:p>
          <a:p>
            <a:pPr>
              <a:spcAft>
                <a:spcPts val="0"/>
              </a:spcAft>
            </a:pPr>
            <a:r>
              <a:rPr sz="1400" b="0" i="0">
                <a:solidFill>
                  <a:srgbClr val="334155"/>
                </a:solidFill>
                <a:latin typeface="Segoe UI"/>
              </a:rPr>
              <a:t>Combine four packet-level signature rules, two supervised classifiers and a benign-only autoencoder under an explicit fusion policy.</a:t>
            </a:r>
          </a:p>
        </p:txBody>
      </p:sp>
      <p:sp>
        <p:nvSpPr>
          <p:cNvPr id="9" name="Rounded Rectangle 8"/>
          <p:cNvSpPr/>
          <p:nvPr/>
        </p:nvSpPr>
        <p:spPr>
          <a:xfrm>
            <a:off x="822960" y="3154680"/>
            <a:ext cx="10545775" cy="1170432"/>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078992" y="3429000"/>
            <a:ext cx="566928" cy="566928"/>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Aft>
                <a:spcPts val="0"/>
              </a:spcAft>
            </a:pPr>
            <a:r>
              <a:rPr sz="2000" b="1" i="0">
                <a:solidFill>
                  <a:srgbClr val="FFFFFF"/>
                </a:solidFill>
                <a:latin typeface="Segoe UI"/>
              </a:rPr>
              <a:t>2</a:t>
            </a:r>
          </a:p>
        </p:txBody>
      </p:sp>
      <p:sp>
        <p:nvSpPr>
          <p:cNvPr id="11" name="TextBox 10"/>
          <p:cNvSpPr txBox="1"/>
          <p:nvPr/>
        </p:nvSpPr>
        <p:spPr>
          <a:xfrm>
            <a:off x="1874520" y="3337560"/>
            <a:ext cx="9174175" cy="914400"/>
          </a:xfrm>
          <a:prstGeom prst="rect">
            <a:avLst/>
          </a:prstGeom>
          <a:noFill/>
        </p:spPr>
        <p:txBody>
          <a:bodyPr wrap="square">
            <a:spAutoFit/>
          </a:bodyPr>
          <a:lstStyle/>
          <a:p>
            <a:pPr algn="l">
              <a:spcAft>
                <a:spcPts val="200"/>
              </a:spcAft>
            </a:pPr>
            <a:r>
              <a:rPr sz="1900" b="1" i="0">
                <a:solidFill>
                  <a:srgbClr val="0F172A"/>
                </a:solidFill>
                <a:latin typeface="Segoe UI"/>
              </a:rPr>
              <a:t>Respond</a:t>
            </a:r>
          </a:p>
          <a:p>
            <a:pPr>
              <a:spcAft>
                <a:spcPts val="0"/>
              </a:spcAft>
            </a:pPr>
            <a:r>
              <a:rPr sz="1400" b="0" i="0">
                <a:solidFill>
                  <a:srgbClr val="334155"/>
                </a:solidFill>
                <a:latin typeface="Segoe UI"/>
              </a:rPr>
              <a:t>Block the attacking source automatically, with every rule time-limited, reversible and confined to one firewall chain.</a:t>
            </a:r>
          </a:p>
        </p:txBody>
      </p:sp>
      <p:sp>
        <p:nvSpPr>
          <p:cNvPr id="12" name="Rounded Rectangle 11"/>
          <p:cNvSpPr/>
          <p:nvPr/>
        </p:nvSpPr>
        <p:spPr>
          <a:xfrm>
            <a:off x="822960" y="4480560"/>
            <a:ext cx="10545775" cy="1170432"/>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078992" y="4754880"/>
            <a:ext cx="566928" cy="566928"/>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Aft>
                <a:spcPts val="0"/>
              </a:spcAft>
            </a:pPr>
            <a:r>
              <a:rPr sz="2000" b="1" i="0">
                <a:solidFill>
                  <a:srgbClr val="FFFFFF"/>
                </a:solidFill>
                <a:latin typeface="Segoe UI"/>
              </a:rPr>
              <a:t>3</a:t>
            </a:r>
          </a:p>
        </p:txBody>
      </p:sp>
      <p:sp>
        <p:nvSpPr>
          <p:cNvPr id="14" name="TextBox 13"/>
          <p:cNvSpPr txBox="1"/>
          <p:nvPr/>
        </p:nvSpPr>
        <p:spPr>
          <a:xfrm>
            <a:off x="1874520" y="4663440"/>
            <a:ext cx="9174175" cy="914400"/>
          </a:xfrm>
          <a:prstGeom prst="rect">
            <a:avLst/>
          </a:prstGeom>
          <a:noFill/>
        </p:spPr>
        <p:txBody>
          <a:bodyPr wrap="square">
            <a:spAutoFit/>
          </a:bodyPr>
          <a:lstStyle/>
          <a:p>
            <a:pPr algn="l">
              <a:spcAft>
                <a:spcPts val="200"/>
              </a:spcAft>
            </a:pPr>
            <a:r>
              <a:rPr sz="1900" b="1" i="0">
                <a:solidFill>
                  <a:srgbClr val="0F172A"/>
                </a:solidFill>
                <a:latin typeface="Segoe UI"/>
              </a:rPr>
              <a:t>Demonstrate</a:t>
            </a:r>
          </a:p>
          <a:p>
            <a:pPr>
              <a:spcAft>
                <a:spcPts val="0"/>
              </a:spcAft>
            </a:pPr>
            <a:r>
              <a:rPr sz="1400" b="0" i="0">
                <a:solidFill>
                  <a:srgbClr val="334155"/>
                </a:solidFill>
                <a:latin typeface="Segoe UI"/>
              </a:rPr>
              <a:t>Validate end to end on live traffic in an isolated lab, not only as offline metrics on a benchmark.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RELATED WORK</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Literature review</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4</a:t>
            </a:r>
          </a:p>
        </p:txBody>
      </p:sp>
      <p:graphicFrame>
        <p:nvGraphicFramePr>
          <p:cNvPr id="6" name="Table 5"/>
          <p:cNvGraphicFramePr>
            <a:graphicFrameLocks noGrp="1"/>
          </p:cNvGraphicFramePr>
          <p:nvPr/>
        </p:nvGraphicFramePr>
        <p:xfrm>
          <a:off x="822960" y="1737360"/>
          <a:ext cx="10545775" cy="4352544"/>
        </p:xfrm>
        <a:graphic>
          <a:graphicData uri="http://schemas.openxmlformats.org/drawingml/2006/table">
            <a:tbl>
              <a:tblPr firstRow="1" bandRow="1">
                <a:tableStyleId>{5C22544A-7EE6-4342-B048-85BDC9FD1C3A}</a:tableStyleId>
              </a:tblPr>
              <a:tblGrid>
                <a:gridCol w="2530986"/>
                <a:gridCol w="4218310"/>
                <a:gridCol w="3796479"/>
              </a:tblGrid>
              <a:tr h="621792">
                <a:tc>
                  <a:txBody>
                    <a:bodyPr wrap="square"/>
                    <a:lstStyle/>
                    <a:p>
                      <a:pPr algn="l"/>
                      <a:r>
                        <a:rPr sz="1200" b="1">
                          <a:solidFill>
                            <a:srgbClr val="FFFFFF"/>
                          </a:solidFill>
                          <a:latin typeface="Segoe UI"/>
                        </a:rPr>
                        <a:t>Work</a:t>
                      </a:r>
                    </a:p>
                  </a:txBody>
                  <a:tcPr marL="73152" marR="73152" marT="18288" marB="18288" anchor="ctr">
                    <a:solidFill>
                      <a:srgbClr val="0F172A"/>
                    </a:solidFill>
                  </a:tcPr>
                </a:tc>
                <a:tc>
                  <a:txBody>
                    <a:bodyPr wrap="square"/>
                    <a:lstStyle/>
                    <a:p>
                      <a:pPr algn="ctr"/>
                      <a:r>
                        <a:rPr sz="1200" b="1">
                          <a:solidFill>
                            <a:srgbClr val="FFFFFF"/>
                          </a:solidFill>
                          <a:latin typeface="Segoe UI"/>
                        </a:rPr>
                        <a:t>Contribution</a:t>
                      </a:r>
                    </a:p>
                  </a:txBody>
                  <a:tcPr marL="73152" marR="73152" marT="18288" marB="18288" anchor="ctr">
                    <a:solidFill>
                      <a:srgbClr val="0F172A"/>
                    </a:solidFill>
                  </a:tcPr>
                </a:tc>
                <a:tc>
                  <a:txBody>
                    <a:bodyPr wrap="square"/>
                    <a:lstStyle/>
                    <a:p>
                      <a:pPr algn="ctr"/>
                      <a:r>
                        <a:rPr sz="1200" b="1">
                          <a:solidFill>
                            <a:srgbClr val="FFFFFF"/>
                          </a:solidFill>
                          <a:latin typeface="Segoe UI"/>
                        </a:rPr>
                        <a:t>How it shaped Netra</a:t>
                      </a:r>
                    </a:p>
                  </a:txBody>
                  <a:tcPr marL="73152" marR="73152" marT="18288" marB="18288" anchor="ctr">
                    <a:solidFill>
                      <a:srgbClr val="0F172A"/>
                    </a:solidFill>
                  </a:tcPr>
                </a:tc>
              </a:tr>
              <a:tr h="621792">
                <a:tc>
                  <a:txBody>
                    <a:bodyPr wrap="square"/>
                    <a:lstStyle/>
                    <a:p>
                      <a:pPr algn="l"/>
                      <a:r>
                        <a:rPr sz="1100" b="0">
                          <a:solidFill>
                            <a:srgbClr val="334155"/>
                          </a:solidFill>
                          <a:latin typeface="Segoe UI"/>
                        </a:rPr>
                        <a:t>Tavallaee et al. 2009 [3]</a:t>
                      </a:r>
                    </a:p>
                  </a:txBody>
                  <a:tcPr marL="73152" marR="73152" marT="18288" marB="18288" anchor="ctr">
                    <a:solidFill>
                      <a:srgbClr val="FFFFFF"/>
                    </a:solidFill>
                  </a:tcPr>
                </a:tc>
                <a:tc>
                  <a:txBody>
                    <a:bodyPr wrap="square"/>
                    <a:lstStyle/>
                    <a:p>
                      <a:pPr algn="ctr"/>
                      <a:r>
                        <a:rPr sz="1100" b="0">
                          <a:solidFill>
                            <a:srgbClr val="334155"/>
                          </a:solidFill>
                          <a:latin typeface="Segoe UI"/>
                        </a:rPr>
                        <a:t>KDD CUP 99 is full of duplicate records that
inflate accuracy</a:t>
                      </a:r>
                    </a:p>
                  </a:txBody>
                  <a:tcPr marL="73152" marR="73152" marT="18288" marB="18288" anchor="ctr">
                    <a:solidFill>
                      <a:srgbClr val="FFFFFF"/>
                    </a:solidFill>
                  </a:tcPr>
                </a:tc>
                <a:tc>
                  <a:txBody>
                    <a:bodyPr wrap="square"/>
                    <a:lstStyle/>
                    <a:p>
                      <a:pPr algn="ctr"/>
                      <a:r>
                        <a:rPr sz="1100" b="0">
                          <a:solidFill>
                            <a:srgbClr val="334155"/>
                          </a:solidFill>
                          <a:latin typeface="Segoe UI"/>
                        </a:rPr>
                        <a:t>Duplicate removal and cross-split
leakage checks are part of the pipeline</a:t>
                      </a:r>
                    </a:p>
                  </a:txBody>
                  <a:tcPr marL="73152" marR="73152" marT="18288" marB="18288" anchor="ctr">
                    <a:solidFill>
                      <a:srgbClr val="FFFFFF"/>
                    </a:solidFill>
                  </a:tcPr>
                </a:tc>
              </a:tr>
              <a:tr h="621792">
                <a:tc>
                  <a:txBody>
                    <a:bodyPr wrap="square"/>
                    <a:lstStyle/>
                    <a:p>
                      <a:pPr algn="l"/>
                      <a:r>
                        <a:rPr sz="1100" b="0">
                          <a:solidFill>
                            <a:srgbClr val="334155"/>
                          </a:solidFill>
                          <a:latin typeface="Segoe UI"/>
                        </a:rPr>
                        <a:t>Moustafa &amp; Slay 2015 [2]</a:t>
                      </a:r>
                    </a:p>
                  </a:txBody>
                  <a:tcPr marL="73152" marR="73152" marT="18288" marB="18288" anchor="ctr">
                    <a:solidFill>
                      <a:srgbClr val="F1F5F9"/>
                    </a:solidFill>
                  </a:tcPr>
                </a:tc>
                <a:tc>
                  <a:txBody>
                    <a:bodyPr wrap="square"/>
                    <a:lstStyle/>
                    <a:p>
                      <a:pPr algn="ctr"/>
                      <a:r>
                        <a:rPr sz="1100" b="0">
                          <a:solidFill>
                            <a:srgbClr val="334155"/>
                          </a:solidFill>
                          <a:latin typeface="Segoe UI"/>
                        </a:rPr>
                        <a:t>UNSW-NB15; KDD-era traffic no longer
represents modern networks</a:t>
                      </a:r>
                    </a:p>
                  </a:txBody>
                  <a:tcPr marL="73152" marR="73152" marT="18288" marB="18288" anchor="ctr">
                    <a:solidFill>
                      <a:srgbClr val="F1F5F9"/>
                    </a:solidFill>
                  </a:tcPr>
                </a:tc>
                <a:tc>
                  <a:txBody>
                    <a:bodyPr wrap="square"/>
                    <a:lstStyle/>
                    <a:p>
                      <a:pPr algn="ctr"/>
                      <a:r>
                        <a:rPr sz="1100" b="0">
                          <a:solidFill>
                            <a:srgbClr val="334155"/>
                          </a:solidFill>
                          <a:latin typeface="Segoe UI"/>
                        </a:rPr>
                        <a:t>Named as the cross-dataset test
for future work</a:t>
                      </a:r>
                    </a:p>
                  </a:txBody>
                  <a:tcPr marL="73152" marR="73152" marT="18288" marB="18288" anchor="ctr">
                    <a:solidFill>
                      <a:srgbClr val="F1F5F9"/>
                    </a:solidFill>
                  </a:tcPr>
                </a:tc>
              </a:tr>
              <a:tr h="621792">
                <a:tc>
                  <a:txBody>
                    <a:bodyPr wrap="square"/>
                    <a:lstStyle/>
                    <a:p>
                      <a:pPr algn="l"/>
                      <a:r>
                        <a:rPr sz="1100" b="0">
                          <a:solidFill>
                            <a:srgbClr val="334155"/>
                          </a:solidFill>
                          <a:latin typeface="Segoe UI"/>
                        </a:rPr>
                        <a:t>Sharafaldin et al. 2018 [1]</a:t>
                      </a:r>
                    </a:p>
                  </a:txBody>
                  <a:tcPr marL="73152" marR="73152" marT="18288" marB="18288" anchor="ctr">
                    <a:solidFill>
                      <a:srgbClr val="FFFFFF"/>
                    </a:solidFill>
                  </a:tcPr>
                </a:tc>
                <a:tc>
                  <a:txBody>
                    <a:bodyPr wrap="square"/>
                    <a:lstStyle/>
                    <a:p>
                      <a:pPr algn="ctr"/>
                      <a:r>
                        <a:rPr sz="1100" b="0">
                          <a:solidFill>
                            <a:srgbClr val="334155"/>
                          </a:solidFill>
                          <a:latin typeface="Segoe UI"/>
                        </a:rPr>
                        <a:t>CIC-IDS2017: realistic 5-day capture,
labelled flows + PCAPs</a:t>
                      </a:r>
                    </a:p>
                  </a:txBody>
                  <a:tcPr marL="73152" marR="73152" marT="18288" marB="18288" anchor="ctr">
                    <a:solidFill>
                      <a:srgbClr val="FFFFFF"/>
                    </a:solidFill>
                  </a:tcPr>
                </a:tc>
                <a:tc>
                  <a:txBody>
                    <a:bodyPr wrap="square"/>
                    <a:lstStyle/>
                    <a:p>
                      <a:pPr algn="ctr"/>
                      <a:r>
                        <a:rPr sz="1100" b="0">
                          <a:solidFill>
                            <a:srgbClr val="334155"/>
                          </a:solidFill>
                          <a:latin typeface="Segoe UI"/>
                        </a:rPr>
                        <a:t>The dataset used here</a:t>
                      </a:r>
                    </a:p>
                  </a:txBody>
                  <a:tcPr marL="73152" marR="73152" marT="18288" marB="18288" anchor="ctr">
                    <a:solidFill>
                      <a:srgbClr val="FFFFFF"/>
                    </a:solidFill>
                  </a:tcPr>
                </a:tc>
              </a:tr>
              <a:tr h="621792">
                <a:tc>
                  <a:txBody>
                    <a:bodyPr wrap="square"/>
                    <a:lstStyle/>
                    <a:p>
                      <a:pPr algn="l"/>
                      <a:r>
                        <a:rPr sz="1100" b="0">
                          <a:solidFill>
                            <a:srgbClr val="334155"/>
                          </a:solidFill>
                          <a:latin typeface="Segoe UI"/>
                        </a:rPr>
                        <a:t>Mirsky et al. 2018 [4]</a:t>
                      </a:r>
                    </a:p>
                  </a:txBody>
                  <a:tcPr marL="73152" marR="73152" marT="18288" marB="18288" anchor="ctr">
                    <a:solidFill>
                      <a:srgbClr val="F1F5F9"/>
                    </a:solidFill>
                  </a:tcPr>
                </a:tc>
                <a:tc>
                  <a:txBody>
                    <a:bodyPr wrap="square"/>
                    <a:lstStyle/>
                    <a:p>
                      <a:pPr algn="ctr"/>
                      <a:r>
                        <a:rPr sz="1100" b="0">
                          <a:solidFill>
                            <a:srgbClr val="334155"/>
                          </a:solidFill>
                          <a:latin typeface="Segoe UI"/>
                        </a:rPr>
                        <a:t>Kitsune: online autoencoder ensemble,
no labels needed</a:t>
                      </a:r>
                    </a:p>
                  </a:txBody>
                  <a:tcPr marL="73152" marR="73152" marT="18288" marB="18288" anchor="ctr">
                    <a:solidFill>
                      <a:srgbClr val="F1F5F9"/>
                    </a:solidFill>
                  </a:tcPr>
                </a:tc>
                <a:tc>
                  <a:txBody>
                    <a:bodyPr wrap="square"/>
                    <a:lstStyle/>
                    <a:p>
                      <a:pPr algn="ctr"/>
                      <a:r>
                        <a:rPr sz="1100" b="0">
                          <a:solidFill>
                            <a:srgbClr val="334155"/>
                          </a:solidFill>
                          <a:latin typeface="Segoe UI"/>
                        </a:rPr>
                        <a:t>Benign-only autoencoder as one
voice in the fusion policy</a:t>
                      </a:r>
                    </a:p>
                  </a:txBody>
                  <a:tcPr marL="73152" marR="73152" marT="18288" marB="18288" anchor="ctr">
                    <a:solidFill>
                      <a:srgbClr val="F1F5F9"/>
                    </a:solidFill>
                  </a:tcPr>
                </a:tc>
              </a:tr>
              <a:tr h="621792">
                <a:tc>
                  <a:txBody>
                    <a:bodyPr wrap="square"/>
                    <a:lstStyle/>
                    <a:p>
                      <a:pPr algn="l"/>
                      <a:r>
                        <a:rPr sz="1100" b="0">
                          <a:solidFill>
                            <a:srgbClr val="334155"/>
                          </a:solidFill>
                          <a:latin typeface="Segoe UI"/>
                        </a:rPr>
                        <a:t>Ring et al. 2019 [5]</a:t>
                      </a:r>
                    </a:p>
                  </a:txBody>
                  <a:tcPr marL="73152" marR="73152" marT="18288" marB="18288" anchor="ctr">
                    <a:solidFill>
                      <a:srgbClr val="FFFFFF"/>
                    </a:solidFill>
                  </a:tcPr>
                </a:tc>
                <a:tc>
                  <a:txBody>
                    <a:bodyPr wrap="square"/>
                    <a:lstStyle/>
                    <a:p>
                      <a:pPr algn="ctr"/>
                      <a:r>
                        <a:rPr sz="1100" b="0">
                          <a:solidFill>
                            <a:srgbClr val="334155"/>
                          </a:solidFill>
                          <a:latin typeface="Segoe UI"/>
                        </a:rPr>
                        <a:t>Survey: dataset quality matters more
than classifier choice</a:t>
                      </a:r>
                    </a:p>
                  </a:txBody>
                  <a:tcPr marL="73152" marR="73152" marT="18288" marB="18288" anchor="ctr">
                    <a:solidFill>
                      <a:srgbClr val="FFFFFF"/>
                    </a:solidFill>
                  </a:tcPr>
                </a:tc>
                <a:tc>
                  <a:txBody>
                    <a:bodyPr wrap="square"/>
                    <a:lstStyle/>
                    <a:p>
                      <a:pPr algn="ctr"/>
                      <a:r>
                        <a:rPr sz="1100" b="0">
                          <a:solidFill>
                            <a:srgbClr val="334155"/>
                          </a:solidFill>
                          <a:latin typeface="Segoe UI"/>
                        </a:rPr>
                        <a:t>Motivated auditing the data before
trusting the metrics</a:t>
                      </a:r>
                    </a:p>
                  </a:txBody>
                  <a:tcPr marL="73152" marR="73152" marT="18288" marB="18288" anchor="ctr">
                    <a:solidFill>
                      <a:srgbClr val="FFFFFF"/>
                    </a:solidFill>
                  </a:tcPr>
                </a:tc>
              </a:tr>
              <a:tr h="621792">
                <a:tc>
                  <a:txBody>
                    <a:bodyPr wrap="square"/>
                    <a:lstStyle/>
                    <a:p>
                      <a:pPr algn="l"/>
                      <a:r>
                        <a:rPr sz="1100" b="1">
                          <a:solidFill>
                            <a:srgbClr val="0F172A"/>
                          </a:solidFill>
                          <a:latin typeface="Segoe UI"/>
                        </a:rPr>
                        <a:t>Engelen et al. 2021 [6]</a:t>
                      </a:r>
                    </a:p>
                  </a:txBody>
                  <a:tcPr marL="73152" marR="73152" marT="18288" marB="18288" anchor="ctr">
                    <a:solidFill>
                      <a:srgbClr val="F1F5F9"/>
                    </a:solidFill>
                  </a:tcPr>
                </a:tc>
                <a:tc>
                  <a:txBody>
                    <a:bodyPr wrap="square"/>
                    <a:lstStyle/>
                    <a:p>
                      <a:pPr algn="ctr"/>
                      <a:r>
                        <a:rPr sz="1100" b="1">
                          <a:solidFill>
                            <a:srgbClr val="0F172A"/>
                          </a:solidFill>
                          <a:latin typeface="Segoe UI"/>
                        </a:rPr>
                        <a:t>Audit of CIC-IDS2017: flag counting and
labelling defects</a:t>
                      </a:r>
                    </a:p>
                  </a:txBody>
                  <a:tcPr marL="73152" marR="73152" marT="18288" marB="18288" anchor="ctr">
                    <a:solidFill>
                      <a:srgbClr val="F1F5F9"/>
                    </a:solidFill>
                  </a:tcPr>
                </a:tc>
                <a:tc>
                  <a:txBody>
                    <a:bodyPr wrap="square"/>
                    <a:lstStyle/>
                    <a:p>
                      <a:pPr algn="ctr"/>
                      <a:r>
                        <a:rPr sz="1100" b="1">
                          <a:solidFill>
                            <a:srgbClr val="0F172A"/>
                          </a:solidFill>
                          <a:latin typeface="Segoe UI"/>
                        </a:rPr>
                        <a:t>Independently reproduced; drove the
removal of all 12 flag features</a:t>
                      </a:r>
                    </a:p>
                  </a:txBody>
                  <a:tcPr marL="73152" marR="73152" marT="18288" marB="18288" anchor="ctr">
                    <a:solidFill>
                      <a:srgbClr val="F1F5F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DESIGN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System architecture</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5</a:t>
            </a:r>
          </a:p>
        </p:txBody>
      </p:sp>
      <p:sp>
        <p:nvSpPr>
          <p:cNvPr id="6" name="TextBox 5"/>
          <p:cNvSpPr txBox="1"/>
          <p:nvPr/>
        </p:nvSpPr>
        <p:spPr>
          <a:xfrm>
            <a:off x="822960" y="1645920"/>
            <a:ext cx="10545775" cy="365760"/>
          </a:xfrm>
          <a:prstGeom prst="rect">
            <a:avLst/>
          </a:prstGeom>
          <a:noFill/>
        </p:spPr>
        <p:txBody>
          <a:bodyPr wrap="square">
            <a:spAutoFit/>
          </a:bodyPr>
          <a:lstStyle/>
          <a:p>
            <a:pPr algn="l">
              <a:spcAft>
                <a:spcPts val="600"/>
              </a:spcAft>
            </a:pPr>
            <a:r>
              <a:rPr sz="1400" b="0" i="0">
                <a:solidFill>
                  <a:srgbClr val="64748B"/>
                </a:solidFill>
                <a:latin typeface="Segoe UI"/>
              </a:rPr>
              <a:t>Five layers. Live capture, PCAP replay and dataset replay all produce the same feature schema.</a:t>
            </a:r>
          </a:p>
        </p:txBody>
      </p:sp>
      <p:sp>
        <p:nvSpPr>
          <p:cNvPr id="7" name="Rounded Rectangle 6"/>
          <p:cNvSpPr/>
          <p:nvPr/>
        </p:nvSpPr>
        <p:spPr>
          <a:xfrm>
            <a:off x="822960" y="2240280"/>
            <a:ext cx="1801916" cy="13716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2386584"/>
            <a:ext cx="1801916" cy="329184"/>
          </a:xfrm>
          <a:prstGeom prst="rect">
            <a:avLst/>
          </a:prstGeom>
          <a:noFill/>
        </p:spPr>
        <p:txBody>
          <a:bodyPr wrap="square">
            <a:spAutoFit/>
          </a:bodyPr>
          <a:lstStyle/>
          <a:p>
            <a:pPr algn="ctr">
              <a:spcAft>
                <a:spcPts val="0"/>
              </a:spcAft>
            </a:pPr>
            <a:r>
              <a:rPr sz="1600" b="1" i="0">
                <a:solidFill>
                  <a:srgbClr val="0F172A"/>
                </a:solidFill>
                <a:latin typeface="Segoe UI"/>
              </a:rPr>
              <a:t>Ingestion</a:t>
            </a:r>
          </a:p>
        </p:txBody>
      </p:sp>
      <p:sp>
        <p:nvSpPr>
          <p:cNvPr id="9" name="TextBox 8"/>
          <p:cNvSpPr txBox="1"/>
          <p:nvPr/>
        </p:nvSpPr>
        <p:spPr>
          <a:xfrm>
            <a:off x="822960" y="2770632"/>
            <a:ext cx="1801916" cy="777240"/>
          </a:xfrm>
          <a:prstGeom prst="rect">
            <a:avLst/>
          </a:prstGeom>
          <a:noFill/>
        </p:spPr>
        <p:txBody>
          <a:bodyPr wrap="square">
            <a:spAutoFit/>
          </a:bodyPr>
          <a:lstStyle/>
          <a:p>
            <a:pPr algn="ctr">
              <a:spcAft>
                <a:spcPts val="0"/>
              </a:spcAft>
            </a:pPr>
            <a:r>
              <a:rPr sz="1100" b="0" i="0">
                <a:solidFill>
                  <a:srgbClr val="64748B"/>
                </a:solidFill>
                <a:latin typeface="Segoe UI"/>
              </a:rPr>
              <a:t>scapy capture
PCAP / dataset
replay</a:t>
            </a:r>
          </a:p>
        </p:txBody>
      </p:sp>
      <p:sp>
        <p:nvSpPr>
          <p:cNvPr id="10" name="Right Arrow 9"/>
          <p:cNvSpPr/>
          <p:nvPr/>
        </p:nvSpPr>
        <p:spPr>
          <a:xfrm>
            <a:off x="2688884" y="2825496"/>
            <a:ext cx="256032" cy="201168"/>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08924" y="2240280"/>
            <a:ext cx="1801916" cy="13716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008924" y="2386584"/>
            <a:ext cx="1801916" cy="329184"/>
          </a:xfrm>
          <a:prstGeom prst="rect">
            <a:avLst/>
          </a:prstGeom>
          <a:noFill/>
        </p:spPr>
        <p:txBody>
          <a:bodyPr wrap="square">
            <a:spAutoFit/>
          </a:bodyPr>
          <a:lstStyle/>
          <a:p>
            <a:pPr algn="ctr">
              <a:spcAft>
                <a:spcPts val="0"/>
              </a:spcAft>
            </a:pPr>
            <a:r>
              <a:rPr sz="1600" b="1" i="0">
                <a:solidFill>
                  <a:srgbClr val="0F172A"/>
                </a:solidFill>
                <a:latin typeface="Segoe UI"/>
              </a:rPr>
              <a:t>Features</a:t>
            </a:r>
          </a:p>
        </p:txBody>
      </p:sp>
      <p:sp>
        <p:nvSpPr>
          <p:cNvPr id="13" name="TextBox 12"/>
          <p:cNvSpPr txBox="1"/>
          <p:nvPr/>
        </p:nvSpPr>
        <p:spPr>
          <a:xfrm>
            <a:off x="3008924" y="2770632"/>
            <a:ext cx="1801916" cy="777240"/>
          </a:xfrm>
          <a:prstGeom prst="rect">
            <a:avLst/>
          </a:prstGeom>
          <a:noFill/>
        </p:spPr>
        <p:txBody>
          <a:bodyPr wrap="square">
            <a:spAutoFit/>
          </a:bodyPr>
          <a:lstStyle/>
          <a:p>
            <a:pPr algn="ctr">
              <a:spcAft>
                <a:spcPts val="0"/>
              </a:spcAft>
            </a:pPr>
            <a:r>
              <a:rPr sz="1100" b="0" i="0">
                <a:solidFill>
                  <a:srgbClr val="64748B"/>
                </a:solidFill>
                <a:latin typeface="Segoe UI"/>
              </a:rPr>
              <a:t>5-tuple flows
59 CIC features
6 lite features</a:t>
            </a:r>
          </a:p>
        </p:txBody>
      </p:sp>
      <p:sp>
        <p:nvSpPr>
          <p:cNvPr id="14" name="Right Arrow 13"/>
          <p:cNvSpPr/>
          <p:nvPr/>
        </p:nvSpPr>
        <p:spPr>
          <a:xfrm>
            <a:off x="4874848" y="2825496"/>
            <a:ext cx="256032" cy="201168"/>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94888" y="2240280"/>
            <a:ext cx="1801916" cy="1371600"/>
          </a:xfrm>
          <a:prstGeom prst="round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194888" y="2386584"/>
            <a:ext cx="1801916" cy="329184"/>
          </a:xfrm>
          <a:prstGeom prst="rect">
            <a:avLst/>
          </a:prstGeom>
          <a:noFill/>
        </p:spPr>
        <p:txBody>
          <a:bodyPr wrap="square">
            <a:spAutoFit/>
          </a:bodyPr>
          <a:lstStyle/>
          <a:p>
            <a:pPr algn="ctr">
              <a:spcAft>
                <a:spcPts val="0"/>
              </a:spcAft>
            </a:pPr>
            <a:r>
              <a:rPr sz="1600" b="1" i="0">
                <a:solidFill>
                  <a:srgbClr val="FFFFFF"/>
                </a:solidFill>
                <a:latin typeface="Segoe UI"/>
              </a:rPr>
              <a:t>Detection</a:t>
            </a:r>
          </a:p>
        </p:txBody>
      </p:sp>
      <p:sp>
        <p:nvSpPr>
          <p:cNvPr id="17" name="TextBox 16"/>
          <p:cNvSpPr txBox="1"/>
          <p:nvPr/>
        </p:nvSpPr>
        <p:spPr>
          <a:xfrm>
            <a:off x="5194888" y="2770632"/>
            <a:ext cx="1801916" cy="777240"/>
          </a:xfrm>
          <a:prstGeom prst="rect">
            <a:avLst/>
          </a:prstGeom>
          <a:noFill/>
        </p:spPr>
        <p:txBody>
          <a:bodyPr wrap="square">
            <a:spAutoFit/>
          </a:bodyPr>
          <a:lstStyle/>
          <a:p>
            <a:pPr algn="ctr">
              <a:spcAft>
                <a:spcPts val="0"/>
              </a:spcAft>
            </a:pPr>
            <a:r>
              <a:rPr sz="1100" b="0" i="0">
                <a:solidFill>
                  <a:srgbClr val="FFFFFF"/>
                </a:solidFill>
                <a:latin typeface="Segoe UI"/>
              </a:rPr>
              <a:t>4 signature rules
full + lite RF
autoencoder</a:t>
            </a:r>
          </a:p>
        </p:txBody>
      </p:sp>
      <p:sp>
        <p:nvSpPr>
          <p:cNvPr id="18" name="Right Arrow 17"/>
          <p:cNvSpPr/>
          <p:nvPr/>
        </p:nvSpPr>
        <p:spPr>
          <a:xfrm>
            <a:off x="7060812" y="2825496"/>
            <a:ext cx="256032" cy="201168"/>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80852" y="2240280"/>
            <a:ext cx="1801916" cy="13716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80852" y="2386584"/>
            <a:ext cx="1801916" cy="329184"/>
          </a:xfrm>
          <a:prstGeom prst="rect">
            <a:avLst/>
          </a:prstGeom>
          <a:noFill/>
        </p:spPr>
        <p:txBody>
          <a:bodyPr wrap="square">
            <a:spAutoFit/>
          </a:bodyPr>
          <a:lstStyle/>
          <a:p>
            <a:pPr algn="ctr">
              <a:spcAft>
                <a:spcPts val="0"/>
              </a:spcAft>
            </a:pPr>
            <a:r>
              <a:rPr sz="1600" b="1" i="0">
                <a:solidFill>
                  <a:srgbClr val="0F172A"/>
                </a:solidFill>
                <a:latin typeface="Segoe UI"/>
              </a:rPr>
              <a:t>Fusion</a:t>
            </a:r>
          </a:p>
        </p:txBody>
      </p:sp>
      <p:sp>
        <p:nvSpPr>
          <p:cNvPr id="21" name="TextBox 20"/>
          <p:cNvSpPr txBox="1"/>
          <p:nvPr/>
        </p:nvSpPr>
        <p:spPr>
          <a:xfrm>
            <a:off x="7380852" y="2770632"/>
            <a:ext cx="1801916" cy="777240"/>
          </a:xfrm>
          <a:prstGeom prst="rect">
            <a:avLst/>
          </a:prstGeom>
          <a:noFill/>
        </p:spPr>
        <p:txBody>
          <a:bodyPr wrap="square">
            <a:spAutoFit/>
          </a:bodyPr>
          <a:lstStyle/>
          <a:p>
            <a:pPr algn="ctr">
              <a:spcAft>
                <a:spcPts val="0"/>
              </a:spcAft>
            </a:pPr>
            <a:r>
              <a:rPr sz="1100" b="0" i="0">
                <a:solidFill>
                  <a:srgbClr val="64748B"/>
                </a:solidFill>
                <a:latin typeface="Segoe UI"/>
              </a:rPr>
              <a:t>priority policy
corroboration
per-source grouping</a:t>
            </a:r>
          </a:p>
        </p:txBody>
      </p:sp>
      <p:sp>
        <p:nvSpPr>
          <p:cNvPr id="22" name="Right Arrow 21"/>
          <p:cNvSpPr/>
          <p:nvPr/>
        </p:nvSpPr>
        <p:spPr>
          <a:xfrm>
            <a:off x="9246776" y="2825496"/>
            <a:ext cx="256032" cy="201168"/>
          </a:xfrm>
          <a:prstGeom prst="rightArrow">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566816" y="2240280"/>
            <a:ext cx="1801916" cy="13716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566816" y="2386584"/>
            <a:ext cx="1801916" cy="329184"/>
          </a:xfrm>
          <a:prstGeom prst="rect">
            <a:avLst/>
          </a:prstGeom>
          <a:noFill/>
        </p:spPr>
        <p:txBody>
          <a:bodyPr wrap="square">
            <a:spAutoFit/>
          </a:bodyPr>
          <a:lstStyle/>
          <a:p>
            <a:pPr algn="ctr">
              <a:spcAft>
                <a:spcPts val="0"/>
              </a:spcAft>
            </a:pPr>
            <a:r>
              <a:rPr sz="1600" b="1" i="0">
                <a:solidFill>
                  <a:srgbClr val="0F172A"/>
                </a:solidFill>
                <a:latin typeface="Segoe UI"/>
              </a:rPr>
              <a:t>Response</a:t>
            </a:r>
          </a:p>
        </p:txBody>
      </p:sp>
      <p:sp>
        <p:nvSpPr>
          <p:cNvPr id="25" name="TextBox 24"/>
          <p:cNvSpPr txBox="1"/>
          <p:nvPr/>
        </p:nvSpPr>
        <p:spPr>
          <a:xfrm>
            <a:off x="9566816" y="2770632"/>
            <a:ext cx="1801916" cy="777240"/>
          </a:xfrm>
          <a:prstGeom prst="rect">
            <a:avLst/>
          </a:prstGeom>
          <a:noFill/>
        </p:spPr>
        <p:txBody>
          <a:bodyPr wrap="square">
            <a:spAutoFit/>
          </a:bodyPr>
          <a:lstStyle/>
          <a:p>
            <a:pPr algn="ctr">
              <a:spcAft>
                <a:spcPts val="0"/>
              </a:spcAft>
            </a:pPr>
            <a:r>
              <a:rPr sz="1100" b="0" i="0">
                <a:solidFill>
                  <a:srgbClr val="64748B"/>
                </a:solidFill>
                <a:latin typeface="Segoe UI"/>
              </a:rPr>
              <a:t>block / quarantine
timed + reversible
NETRA chain</a:t>
            </a:r>
          </a:p>
        </p:txBody>
      </p:sp>
      <p:sp>
        <p:nvSpPr>
          <p:cNvPr id="26" name="Rounded Rectangle 25"/>
          <p:cNvSpPr/>
          <p:nvPr/>
        </p:nvSpPr>
        <p:spPr>
          <a:xfrm>
            <a:off x="822960" y="3977639"/>
            <a:ext cx="10545775" cy="658368"/>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51560" y="4114800"/>
            <a:ext cx="10088575" cy="457200"/>
          </a:xfrm>
          <a:prstGeom prst="rect">
            <a:avLst/>
          </a:prstGeom>
          <a:noFill/>
        </p:spPr>
        <p:txBody>
          <a:bodyPr wrap="square">
            <a:spAutoFit/>
          </a:bodyPr>
          <a:lstStyle/>
          <a:p>
            <a:pPr algn="l">
              <a:spcAft>
                <a:spcPts val="600"/>
              </a:spcAft>
            </a:pPr>
            <a:r>
              <a:rPr sz="1400" b="0" i="0">
                <a:solidFill>
                  <a:srgbClr val="0F172A"/>
                </a:solidFill>
                <a:latin typeface="Segoe UI"/>
              </a:rPr>
              <a:t>Signature rules bypass flow assembly and fire on individual packets, in about one second, before any flow has completed.</a:t>
            </a:r>
          </a:p>
        </p:txBody>
      </p:sp>
      <p:sp>
        <p:nvSpPr>
          <p:cNvPr id="28" name="TextBox 27"/>
          <p:cNvSpPr txBox="1"/>
          <p:nvPr/>
        </p:nvSpPr>
        <p:spPr>
          <a:xfrm>
            <a:off x="822960" y="4892040"/>
            <a:ext cx="10545775" cy="1280160"/>
          </a:xfrm>
          <a:prstGeom prst="rect">
            <a:avLst/>
          </a:prstGeom>
          <a:noFill/>
        </p:spPr>
        <p:txBody>
          <a:bodyPr wrap="square">
            <a:spAutoFit/>
          </a:bodyPr>
          <a:lstStyle/>
          <a:p>
            <a:pPr algn="l">
              <a:spcAft>
                <a:spcPts val="600"/>
              </a:spcAft>
            </a:pPr>
            <a:r>
              <a:rPr sz="1300" b="1" i="0">
                <a:solidFill>
                  <a:srgbClr val="0EA5E9"/>
                </a:solidFill>
                <a:latin typeface="Segoe UI"/>
              </a:rPr>
              <a:t>Presentation layer</a:t>
            </a:r>
          </a:p>
          <a:p>
            <a:pPr>
              <a:spcAft>
                <a:spcPts val="600"/>
              </a:spcAft>
            </a:pPr>
            <a:r>
              <a:rPr sz="1500" b="0" i="0">
                <a:solidFill>
                  <a:srgbClr val="334155"/>
                </a:solidFill>
                <a:latin typeface="Segoe UI"/>
              </a:rPr>
              <a:t>The engine publishes every alert, action and statistic on an event bus, exposed over WebSocket and REST. A native PySide6 desktop application consumes it, so the engine can run inside Docker while the operator watches from the host.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DETECTION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Layer 1: signature rules</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6</a:t>
            </a:r>
          </a:p>
        </p:txBody>
      </p:sp>
      <p:sp>
        <p:nvSpPr>
          <p:cNvPr id="6" name="TextBox 5"/>
          <p:cNvSpPr txBox="1"/>
          <p:nvPr/>
        </p:nvSpPr>
        <p:spPr>
          <a:xfrm>
            <a:off x="822960" y="1664208"/>
            <a:ext cx="10545775" cy="365760"/>
          </a:xfrm>
          <a:prstGeom prst="rect">
            <a:avLst/>
          </a:prstGeom>
          <a:noFill/>
        </p:spPr>
        <p:txBody>
          <a:bodyPr wrap="square">
            <a:spAutoFit/>
          </a:bodyPr>
          <a:lstStyle/>
          <a:p>
            <a:pPr algn="l">
              <a:spcAft>
                <a:spcPts val="600"/>
              </a:spcAft>
            </a:pPr>
            <a:r>
              <a:rPr sz="1400" b="0" i="0">
                <a:solidFill>
                  <a:srgbClr val="64748B"/>
                </a:solidFill>
                <a:latin typeface="Segoe UI"/>
              </a:rPr>
              <a:t>Evaluated on every packet, with a 10 second per-source cooldown so a flood produces one alert, not thousands.</a:t>
            </a:r>
          </a:p>
        </p:txBody>
      </p:sp>
      <p:graphicFrame>
        <p:nvGraphicFramePr>
          <p:cNvPr id="7" name="Table 6"/>
          <p:cNvGraphicFramePr>
            <a:graphicFrameLocks noGrp="1"/>
          </p:cNvGraphicFramePr>
          <p:nvPr/>
        </p:nvGraphicFramePr>
        <p:xfrm>
          <a:off x="822960" y="2240280"/>
          <a:ext cx="10545774" cy="2743200"/>
        </p:xfrm>
        <a:graphic>
          <a:graphicData uri="http://schemas.openxmlformats.org/drawingml/2006/table">
            <a:tbl>
              <a:tblPr firstRow="1" bandRow="1">
                <a:tableStyleId>{5C22544A-7EE6-4342-B048-85BDC9FD1C3A}</a:tableStyleId>
              </a:tblPr>
              <a:tblGrid>
                <a:gridCol w="1898239"/>
                <a:gridCol w="6116549"/>
                <a:gridCol w="2530986"/>
              </a:tblGrid>
              <a:tr h="548640">
                <a:tc>
                  <a:txBody>
                    <a:bodyPr wrap="square"/>
                    <a:lstStyle/>
                    <a:p>
                      <a:pPr algn="l"/>
                      <a:r>
                        <a:rPr sz="1300" b="1">
                          <a:solidFill>
                            <a:srgbClr val="FFFFFF"/>
                          </a:solidFill>
                          <a:latin typeface="Segoe UI"/>
                        </a:rPr>
                        <a:t>Rule</a:t>
                      </a:r>
                    </a:p>
                  </a:txBody>
                  <a:tcPr marL="73152" marR="73152" marT="18288" marB="18288" anchor="ctr">
                    <a:solidFill>
                      <a:srgbClr val="0F172A"/>
                    </a:solidFill>
                  </a:tcPr>
                </a:tc>
                <a:tc>
                  <a:txBody>
                    <a:bodyPr wrap="square"/>
                    <a:lstStyle/>
                    <a:p>
                      <a:pPr algn="ctr"/>
                      <a:r>
                        <a:rPr sz="1300" b="1">
                          <a:solidFill>
                            <a:srgbClr val="FFFFFF"/>
                          </a:solidFill>
                          <a:latin typeface="Segoe UI"/>
                        </a:rPr>
                        <a:t>Condition</a:t>
                      </a:r>
                    </a:p>
                  </a:txBody>
                  <a:tcPr marL="73152" marR="73152" marT="18288" marB="18288" anchor="ctr">
                    <a:solidFill>
                      <a:srgbClr val="0F172A"/>
                    </a:solidFill>
                  </a:tcPr>
                </a:tc>
                <a:tc>
                  <a:txBody>
                    <a:bodyPr wrap="square"/>
                    <a:lstStyle/>
                    <a:p>
                      <a:pPr algn="ctr"/>
                      <a:r>
                        <a:rPr sz="1300" b="1">
                          <a:solidFill>
                            <a:srgbClr val="FFFFFF"/>
                          </a:solidFill>
                          <a:latin typeface="Segoe UI"/>
                        </a:rPr>
                        <a:t>Class reported</a:t>
                      </a:r>
                    </a:p>
                  </a:txBody>
                  <a:tcPr marL="73152" marR="73152" marT="18288" marB="18288" anchor="ctr">
                    <a:solidFill>
                      <a:srgbClr val="0F172A"/>
                    </a:solidFill>
                  </a:tcPr>
                </a:tc>
              </a:tr>
              <a:tr h="548640">
                <a:tc>
                  <a:txBody>
                    <a:bodyPr wrap="square"/>
                    <a:lstStyle/>
                    <a:p>
                      <a:pPr algn="l"/>
                      <a:r>
                        <a:rPr sz="1300" b="0">
                          <a:solidFill>
                            <a:srgbClr val="334155"/>
                          </a:solidFill>
                          <a:latin typeface="Segoe UI"/>
                        </a:rPr>
                        <a:t>syn_flood</a:t>
                      </a:r>
                    </a:p>
                  </a:txBody>
                  <a:tcPr marL="73152" marR="73152" marT="18288" marB="18288" anchor="ctr">
                    <a:solidFill>
                      <a:srgbClr val="FFFFFF"/>
                    </a:solidFill>
                  </a:tcPr>
                </a:tc>
                <a:tc>
                  <a:txBody>
                    <a:bodyPr wrap="square"/>
                    <a:lstStyle/>
                    <a:p>
                      <a:pPr algn="ctr"/>
                      <a:r>
                        <a:rPr sz="1300" b="0">
                          <a:solidFill>
                            <a:srgbClr val="334155"/>
                          </a:solidFill>
                          <a:latin typeface="Segoe UI"/>
                        </a:rPr>
                        <a:t>more than 100 SYN packets per second from one source</a:t>
                      </a:r>
                    </a:p>
                  </a:txBody>
                  <a:tcPr marL="73152" marR="73152" marT="18288" marB="18288" anchor="ctr">
                    <a:solidFill>
                      <a:srgbClr val="FFFFFF"/>
                    </a:solidFill>
                  </a:tcPr>
                </a:tc>
                <a:tc>
                  <a:txBody>
                    <a:bodyPr wrap="square"/>
                    <a:lstStyle/>
                    <a:p>
                      <a:pPr algn="ctr"/>
                      <a:r>
                        <a:rPr sz="1300" b="0">
                          <a:solidFill>
                            <a:srgbClr val="334155"/>
                          </a:solidFill>
                          <a:latin typeface="Segoe UI"/>
                        </a:rPr>
                        <a:t>DoS</a:t>
                      </a:r>
                    </a:p>
                  </a:txBody>
                  <a:tcPr marL="73152" marR="73152" marT="18288" marB="18288" anchor="ctr">
                    <a:solidFill>
                      <a:srgbClr val="FFFFFF"/>
                    </a:solidFill>
                  </a:tcPr>
                </a:tc>
              </a:tr>
              <a:tr h="548640">
                <a:tc>
                  <a:txBody>
                    <a:bodyPr wrap="square"/>
                    <a:lstStyle/>
                    <a:p>
                      <a:pPr algn="l"/>
                      <a:r>
                        <a:rPr sz="1300" b="0">
                          <a:solidFill>
                            <a:srgbClr val="334155"/>
                          </a:solidFill>
                          <a:latin typeface="Segoe UI"/>
                        </a:rPr>
                        <a:t>port_scan</a:t>
                      </a:r>
                    </a:p>
                  </a:txBody>
                  <a:tcPr marL="73152" marR="73152" marT="18288" marB="18288" anchor="ctr">
                    <a:solidFill>
                      <a:srgbClr val="F1F5F9"/>
                    </a:solidFill>
                  </a:tcPr>
                </a:tc>
                <a:tc>
                  <a:txBody>
                    <a:bodyPr wrap="square"/>
                    <a:lstStyle/>
                    <a:p>
                      <a:pPr algn="ctr"/>
                      <a:r>
                        <a:rPr sz="1300" b="0">
                          <a:solidFill>
                            <a:srgbClr val="334155"/>
                          </a:solidFill>
                          <a:latin typeface="Segoe UI"/>
                        </a:rPr>
                        <a:t>more than 30 distinct destination ports from one source in 5 s</a:t>
                      </a:r>
                    </a:p>
                  </a:txBody>
                  <a:tcPr marL="73152" marR="73152" marT="18288" marB="18288" anchor="ctr">
                    <a:solidFill>
                      <a:srgbClr val="F1F5F9"/>
                    </a:solidFill>
                  </a:tcPr>
                </a:tc>
                <a:tc>
                  <a:txBody>
                    <a:bodyPr wrap="square"/>
                    <a:lstStyle/>
                    <a:p>
                      <a:pPr algn="ctr"/>
                      <a:r>
                        <a:rPr sz="1300" b="0">
                          <a:solidFill>
                            <a:srgbClr val="334155"/>
                          </a:solidFill>
                          <a:latin typeface="Segoe UI"/>
                        </a:rPr>
                        <a:t>PortScan</a:t>
                      </a:r>
                    </a:p>
                  </a:txBody>
                  <a:tcPr marL="73152" marR="73152" marT="18288" marB="18288" anchor="ctr">
                    <a:solidFill>
                      <a:srgbClr val="F1F5F9"/>
                    </a:solidFill>
                  </a:tcPr>
                </a:tc>
              </a:tr>
              <a:tr h="548640">
                <a:tc>
                  <a:txBody>
                    <a:bodyPr wrap="square"/>
                    <a:lstStyle/>
                    <a:p>
                      <a:pPr algn="l"/>
                      <a:r>
                        <a:rPr sz="1300" b="0">
                          <a:solidFill>
                            <a:srgbClr val="334155"/>
                          </a:solidFill>
                          <a:latin typeface="Segoe UI"/>
                        </a:rPr>
                        <a:t>slow_dos</a:t>
                      </a:r>
                    </a:p>
                  </a:txBody>
                  <a:tcPr marL="73152" marR="73152" marT="18288" marB="18288" anchor="ctr">
                    <a:solidFill>
                      <a:srgbClr val="FFFFFF"/>
                    </a:solidFill>
                  </a:tcPr>
                </a:tc>
                <a:tc>
                  <a:txBody>
                    <a:bodyPr wrap="square"/>
                    <a:lstStyle/>
                    <a:p>
                      <a:pPr algn="ctr"/>
                      <a:r>
                        <a:rPr sz="1300" b="0">
                          <a:solidFill>
                            <a:srgbClr val="334155"/>
                          </a:solidFill>
                          <a:latin typeface="Segoe UI"/>
                        </a:rPr>
                        <a:t>50+ connections older than 5 s from one source, averaging under 50 B/s</a:t>
                      </a:r>
                    </a:p>
                  </a:txBody>
                  <a:tcPr marL="73152" marR="73152" marT="18288" marB="18288" anchor="ctr">
                    <a:solidFill>
                      <a:srgbClr val="FFFFFF"/>
                    </a:solidFill>
                  </a:tcPr>
                </a:tc>
                <a:tc>
                  <a:txBody>
                    <a:bodyPr wrap="square"/>
                    <a:lstStyle/>
                    <a:p>
                      <a:pPr algn="ctr"/>
                      <a:r>
                        <a:rPr sz="1300" b="0">
                          <a:solidFill>
                            <a:srgbClr val="334155"/>
                          </a:solidFill>
                          <a:latin typeface="Segoe UI"/>
                        </a:rPr>
                        <a:t>DoS-Slow</a:t>
                      </a:r>
                    </a:p>
                  </a:txBody>
                  <a:tcPr marL="73152" marR="73152" marT="18288" marB="18288" anchor="ctr">
                    <a:solidFill>
                      <a:srgbClr val="FFFFFF"/>
                    </a:solidFill>
                  </a:tcPr>
                </a:tc>
              </a:tr>
              <a:tr h="548640">
                <a:tc>
                  <a:txBody>
                    <a:bodyPr wrap="square"/>
                    <a:lstStyle/>
                    <a:p>
                      <a:pPr algn="l"/>
                      <a:r>
                        <a:rPr sz="1300" b="0">
                          <a:solidFill>
                            <a:srgbClr val="334155"/>
                          </a:solidFill>
                          <a:latin typeface="Segoe UI"/>
                        </a:rPr>
                        <a:t>brute_force</a:t>
                      </a:r>
                    </a:p>
                  </a:txBody>
                  <a:tcPr marL="73152" marR="73152" marT="18288" marB="18288" anchor="ctr">
                    <a:solidFill>
                      <a:srgbClr val="F1F5F9"/>
                    </a:solidFill>
                  </a:tcPr>
                </a:tc>
                <a:tc>
                  <a:txBody>
                    <a:bodyPr wrap="square"/>
                    <a:lstStyle/>
                    <a:p>
                      <a:pPr algn="ctr"/>
                      <a:r>
                        <a:rPr sz="1300" b="0">
                          <a:solidFill>
                            <a:srgbClr val="334155"/>
                          </a:solidFill>
                          <a:latin typeface="Segoe UI"/>
                        </a:rPr>
                        <a:t>more than 10 HTTP 401 replies to one client in 10 s, or 20+ new
connections to a login port in 5 s</a:t>
                      </a:r>
                    </a:p>
                  </a:txBody>
                  <a:tcPr marL="73152" marR="73152" marT="18288" marB="18288" anchor="ctr">
                    <a:solidFill>
                      <a:srgbClr val="F1F5F9"/>
                    </a:solidFill>
                  </a:tcPr>
                </a:tc>
                <a:tc>
                  <a:txBody>
                    <a:bodyPr wrap="square"/>
                    <a:lstStyle/>
                    <a:p>
                      <a:pPr algn="ctr"/>
                      <a:r>
                        <a:rPr sz="1300" b="0">
                          <a:solidFill>
                            <a:srgbClr val="334155"/>
                          </a:solidFill>
                          <a:latin typeface="Segoe UI"/>
                        </a:rPr>
                        <a:t>BruteForce</a:t>
                      </a:r>
                    </a:p>
                  </a:txBody>
                  <a:tcPr marL="73152" marR="73152" marT="18288" marB="18288" anchor="ctr">
                    <a:solidFill>
                      <a:srgbClr val="F1F5F9"/>
                    </a:solidFill>
                  </a:tcPr>
                </a:tc>
              </a:tr>
            </a:tbl>
          </a:graphicData>
        </a:graphic>
      </p:graphicFrame>
      <p:sp>
        <p:nvSpPr>
          <p:cNvPr id="8" name="Rounded Rectangle 7"/>
          <p:cNvSpPr/>
          <p:nvPr/>
        </p:nvSpPr>
        <p:spPr>
          <a:xfrm>
            <a:off x="822960" y="4709160"/>
            <a:ext cx="10545775" cy="100584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4864608"/>
            <a:ext cx="9997135" cy="731520"/>
          </a:xfrm>
          <a:prstGeom prst="rect">
            <a:avLst/>
          </a:prstGeom>
          <a:noFill/>
        </p:spPr>
        <p:txBody>
          <a:bodyPr wrap="square">
            <a:spAutoFit/>
          </a:bodyPr>
          <a:lstStyle/>
          <a:p>
            <a:pPr algn="l">
              <a:spcAft>
                <a:spcPts val="600"/>
              </a:spcAft>
            </a:pPr>
            <a:r>
              <a:rPr sz="1300" b="1" i="0">
                <a:solidFill>
                  <a:srgbClr val="0EA5E9"/>
                </a:solidFill>
                <a:latin typeface="Segoe UI"/>
              </a:rPr>
              <a:t>Why keep rules at all?</a:t>
            </a:r>
          </a:p>
          <a:p>
            <a:pPr>
              <a:spcAft>
                <a:spcPts val="600"/>
              </a:spcAft>
            </a:pPr>
            <a:r>
              <a:rPr sz="1400" b="0" i="0">
                <a:solidFill>
                  <a:srgbClr val="0F172A"/>
                </a:solidFill>
                <a:latin typeface="Segoe UI"/>
              </a:rPr>
              <a:t>They need no flow to complete, they are unaffected by feature mismatches between training and deployment, and their alerts explain themselves. They only cover attacks someone anticipated, which is exactly what the learned layers are for.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DETECTION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Layers 2 and 3: learned detectors</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7</a:t>
            </a:r>
          </a:p>
        </p:txBody>
      </p:sp>
      <p:sp>
        <p:nvSpPr>
          <p:cNvPr id="6" name="Rounded Rectangle 5"/>
          <p:cNvSpPr/>
          <p:nvPr/>
        </p:nvSpPr>
        <p:spPr>
          <a:xfrm>
            <a:off x="822960" y="1691640"/>
            <a:ext cx="5044287" cy="40233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97280" y="1874519"/>
            <a:ext cx="4495647" cy="3657600"/>
          </a:xfrm>
          <a:prstGeom prst="rect">
            <a:avLst/>
          </a:prstGeom>
          <a:noFill/>
        </p:spPr>
        <p:txBody>
          <a:bodyPr wrap="square">
            <a:spAutoFit/>
          </a:bodyPr>
          <a:lstStyle/>
          <a:p>
            <a:pPr algn="l">
              <a:spcAft>
                <a:spcPts val="600"/>
              </a:spcAft>
            </a:pPr>
            <a:r>
              <a:rPr sz="1800" b="1" i="0">
                <a:solidFill>
                  <a:srgbClr val="0F172A"/>
                </a:solidFill>
                <a:latin typeface="Segoe UI"/>
              </a:rPr>
              <a:t>Supervised classifiers</a:t>
            </a:r>
          </a:p>
          <a:p>
            <a:pPr>
              <a:spcAft>
                <a:spcPts val="600"/>
              </a:spcAft>
            </a:pPr>
            <a:r>
              <a:rPr sz="1400" b="0" i="0">
                <a:solidFill>
                  <a:srgbClr val="334155"/>
                </a:solidFill>
                <a:latin typeface="Segoe UI"/>
              </a:rPr>
              <a:t>Random Forest and XGBoost trained for each feature set; the higher validation macro F1 wins. Random Forest won both times.</a:t>
            </a:r>
          </a:p>
          <a:p>
            <a:pPr>
              <a:spcAft>
                <a:spcPts val="600"/>
              </a:spcAft>
            </a:pPr>
            <a:r>
              <a:rPr sz="1300" b="1" i="0">
                <a:solidFill>
                  <a:srgbClr val="0EA5E9"/>
                </a:solidFill>
                <a:latin typeface="Segoe UI"/>
              </a:rPr>
              <a:t>Two feature sets</a:t>
            </a:r>
          </a:p>
          <a:p>
            <a:pPr>
              <a:spcAft>
                <a:spcPts val="300"/>
              </a:spcAft>
            </a:pPr>
            <a:r>
              <a:rPr sz="1300" b="0" i="0">
                <a:solidFill>
                  <a:srgbClr val="334155"/>
                </a:solidFill>
                <a:latin typeface="Segoe UI"/>
              </a:rPr>
              <a:t>Full (59 features): everything CICFlowMeter reports, for offline accuracy.</a:t>
            </a:r>
          </a:p>
          <a:p>
            <a:pPr>
              <a:spcAft>
                <a:spcPts val="600"/>
              </a:spcAft>
            </a:pPr>
            <a:r>
              <a:rPr sz="1300" b="0" i="0">
                <a:solidFill>
                  <a:srgbClr val="334155"/>
                </a:solidFill>
                <a:latin typeface="Segoe UI"/>
              </a:rPr>
              <a:t>Lite (6 features): duration, packets/s, bytes/s, mean packet size, distinct ports and hosts per source in 60 s. Computable from packet headers anywhere, so the live path never depends on feature parity.</a:t>
            </a:r>
          </a:p>
          <a:p>
            <a:pPr>
              <a:spcAft>
                <a:spcPts val="600"/>
              </a:spcAft>
            </a:pPr>
            <a:r>
              <a:rPr sz="1300" b="0" i="1">
                <a:solidFill>
                  <a:srgbClr val="64748B"/>
                </a:solidFill>
                <a:latin typeface="Segoe UI"/>
              </a:rPr>
              <a:t>Macro F1 selects the model, not accuracy: with 85% benign traffic, accuracy is nearly uninformative.</a:t>
            </a:r>
          </a:p>
        </p:txBody>
      </p:sp>
      <p:sp>
        <p:nvSpPr>
          <p:cNvPr id="8" name="Rounded Rectangle 7"/>
          <p:cNvSpPr/>
          <p:nvPr/>
        </p:nvSpPr>
        <p:spPr>
          <a:xfrm>
            <a:off x="6324447" y="1691640"/>
            <a:ext cx="5044287" cy="40233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98767" y="1874519"/>
            <a:ext cx="4495647" cy="3657600"/>
          </a:xfrm>
          <a:prstGeom prst="rect">
            <a:avLst/>
          </a:prstGeom>
          <a:noFill/>
        </p:spPr>
        <p:txBody>
          <a:bodyPr wrap="square">
            <a:spAutoFit/>
          </a:bodyPr>
          <a:lstStyle/>
          <a:p>
            <a:pPr algn="l">
              <a:spcAft>
                <a:spcPts val="600"/>
              </a:spcAft>
            </a:pPr>
            <a:r>
              <a:rPr sz="1800" b="1" i="0">
                <a:solidFill>
                  <a:srgbClr val="0F172A"/>
                </a:solidFill>
                <a:latin typeface="Segoe UI"/>
              </a:rPr>
              <a:t>Autoencoder</a:t>
            </a:r>
          </a:p>
          <a:p>
            <a:pPr>
              <a:spcAft>
                <a:spcPts val="600"/>
              </a:spcAft>
            </a:pPr>
            <a:r>
              <a:rPr sz="1400" b="0" i="0">
                <a:solidFill>
                  <a:srgbClr val="334155"/>
                </a:solidFill>
                <a:latin typeface="Segoe UI"/>
              </a:rPr>
              <a:t>A dense network (69-32-16-8-16-32-69) trained on benign flows only. It is never shown an attack.</a:t>
            </a:r>
          </a:p>
          <a:p>
            <a:pPr>
              <a:spcAft>
                <a:spcPts val="600"/>
              </a:spcAft>
            </a:pPr>
            <a:r>
              <a:rPr sz="1300" b="1" i="0">
                <a:solidFill>
                  <a:srgbClr val="0EA5E9"/>
                </a:solidFill>
                <a:latin typeface="Segoe UI"/>
              </a:rPr>
              <a:t>Threshold</a:t>
            </a:r>
          </a:p>
          <a:p>
            <a:pPr>
              <a:spcAft>
                <a:spcPts val="600"/>
              </a:spcAft>
            </a:pPr>
            <a:r>
              <a:rPr sz="1300" b="0" i="0">
                <a:solidFill>
                  <a:srgbClr val="334155"/>
                </a:solidFill>
                <a:latin typeface="Segoe UI"/>
              </a:rPr>
              <a:t>A flow is anomalous when reconstruction error exceeds the 99th percentile of benign validation error (0.14632). This fixes the false-alarm rate near 1% by construction and trades away recall.</a:t>
            </a:r>
          </a:p>
          <a:p>
            <a:pPr>
              <a:spcAft>
                <a:spcPts val="600"/>
              </a:spcAft>
            </a:pPr>
            <a:r>
              <a:rPr sz="1300" b="1" i="0">
                <a:solidFill>
                  <a:srgbClr val="0EA5E9"/>
                </a:solidFill>
                <a:latin typeface="Segoe UI"/>
              </a:rPr>
              <a:t>Deployment</a:t>
            </a:r>
          </a:p>
          <a:p>
            <a:pPr>
              <a:spcAft>
                <a:spcPts val="600"/>
              </a:spcAft>
            </a:pPr>
            <a:r>
              <a:rPr sz="1300" b="0" i="0">
                <a:solidFill>
                  <a:srgbClr val="334155"/>
                </a:solidFill>
                <a:latin typeface="Segoe UI"/>
              </a:rPr>
              <a:t>Weights are exported to NumPy, so the detection container needs no TensorFlow. Training verifies NumPy and Keras agree to within 1e-6.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DETECTION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Fusion: combining evidence of different strengths</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8</a:t>
            </a:r>
          </a:p>
        </p:txBody>
      </p:sp>
      <p:sp>
        <p:nvSpPr>
          <p:cNvPr id="6" name="Rounded Rectangle 5"/>
          <p:cNvSpPr/>
          <p:nvPr/>
        </p:nvSpPr>
        <p:spPr>
          <a:xfrm>
            <a:off x="822960" y="1783080"/>
            <a:ext cx="10545775" cy="86868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51560" y="1984248"/>
            <a:ext cx="457200" cy="45720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700" b="1" i="0">
                <a:solidFill>
                  <a:srgbClr val="FFFFFF"/>
                </a:solidFill>
                <a:latin typeface="Segoe UI"/>
              </a:rPr>
              <a:t>1</a:t>
            </a:r>
          </a:p>
        </p:txBody>
      </p:sp>
      <p:sp>
        <p:nvSpPr>
          <p:cNvPr id="8" name="TextBox 7"/>
          <p:cNvSpPr txBox="1"/>
          <p:nvPr/>
        </p:nvSpPr>
        <p:spPr>
          <a:xfrm>
            <a:off x="1737360" y="1892808"/>
            <a:ext cx="9357055" cy="685800"/>
          </a:xfrm>
          <a:prstGeom prst="rect">
            <a:avLst/>
          </a:prstGeom>
          <a:noFill/>
        </p:spPr>
        <p:txBody>
          <a:bodyPr wrap="square">
            <a:spAutoFit/>
          </a:bodyPr>
          <a:lstStyle/>
          <a:p>
            <a:pPr algn="l">
              <a:spcAft>
                <a:spcPts val="200"/>
              </a:spcAft>
            </a:pPr>
            <a:r>
              <a:rPr sz="1600" b="1" i="0">
                <a:solidFill>
                  <a:srgbClr val="0F172A"/>
                </a:solidFill>
                <a:latin typeface="Segoe UI"/>
              </a:rPr>
              <a:t>Signature hit</a:t>
            </a:r>
          </a:p>
          <a:p>
            <a:pPr>
              <a:spcAft>
                <a:spcPts val="0"/>
              </a:spcAft>
            </a:pPr>
            <a:r>
              <a:rPr sz="1300" b="0" i="0">
                <a:solidFill>
                  <a:srgbClr val="334155"/>
                </a:solidFill>
                <a:latin typeface="Segoe UI"/>
              </a:rPr>
              <a:t>Alert immediately, severity HIGH</a:t>
            </a:r>
          </a:p>
        </p:txBody>
      </p:sp>
      <p:sp>
        <p:nvSpPr>
          <p:cNvPr id="9" name="Rounded Rectangle 8"/>
          <p:cNvSpPr/>
          <p:nvPr/>
        </p:nvSpPr>
        <p:spPr>
          <a:xfrm>
            <a:off x="822960" y="2743200"/>
            <a:ext cx="10545775" cy="86868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051560" y="2944368"/>
            <a:ext cx="457200" cy="45720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700" b="1" i="0">
                <a:solidFill>
                  <a:srgbClr val="FFFFFF"/>
                </a:solidFill>
                <a:latin typeface="Segoe UI"/>
              </a:rPr>
              <a:t>2</a:t>
            </a:r>
          </a:p>
        </p:txBody>
      </p:sp>
      <p:sp>
        <p:nvSpPr>
          <p:cNvPr id="11" name="TextBox 10"/>
          <p:cNvSpPr txBox="1"/>
          <p:nvPr/>
        </p:nvSpPr>
        <p:spPr>
          <a:xfrm>
            <a:off x="1737360" y="2852928"/>
            <a:ext cx="9357055" cy="685800"/>
          </a:xfrm>
          <a:prstGeom prst="rect">
            <a:avLst/>
          </a:prstGeom>
          <a:noFill/>
        </p:spPr>
        <p:txBody>
          <a:bodyPr wrap="square">
            <a:spAutoFit/>
          </a:bodyPr>
          <a:lstStyle/>
          <a:p>
            <a:pPr algn="l">
              <a:spcAft>
                <a:spcPts val="200"/>
              </a:spcAft>
            </a:pPr>
            <a:r>
              <a:rPr sz="1600" b="1" i="0">
                <a:solidFill>
                  <a:srgbClr val="0F172A"/>
                </a:solidFill>
                <a:latin typeface="Segoe UI"/>
              </a:rPr>
              <a:t>Full model, then lite model</a:t>
            </a:r>
          </a:p>
          <a:p>
            <a:pPr>
              <a:spcAft>
                <a:spcPts val="0"/>
              </a:spcAft>
            </a:pPr>
            <a:r>
              <a:rPr sz="1300" b="0" i="0">
                <a:solidFill>
                  <a:srgbClr val="334155"/>
                </a:solidFill>
                <a:latin typeface="Segoe UI"/>
              </a:rPr>
              <a:t>Attack class at confidence ≥ 0.9 is HIGH; 0.6 to 0.9 is MEDIUM</a:t>
            </a:r>
          </a:p>
        </p:txBody>
      </p:sp>
      <p:sp>
        <p:nvSpPr>
          <p:cNvPr id="12" name="Rounded Rectangle 11"/>
          <p:cNvSpPr/>
          <p:nvPr/>
        </p:nvSpPr>
        <p:spPr>
          <a:xfrm>
            <a:off x="822960" y="3703320"/>
            <a:ext cx="10545775" cy="86868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051560" y="3904488"/>
            <a:ext cx="457200" cy="457200"/>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700" b="1" i="0">
                <a:solidFill>
                  <a:srgbClr val="FFFFFF"/>
                </a:solidFill>
                <a:latin typeface="Segoe UI"/>
              </a:rPr>
              <a:t>3</a:t>
            </a:r>
          </a:p>
        </p:txBody>
      </p:sp>
      <p:sp>
        <p:nvSpPr>
          <p:cNvPr id="14" name="TextBox 13"/>
          <p:cNvSpPr txBox="1"/>
          <p:nvPr/>
        </p:nvSpPr>
        <p:spPr>
          <a:xfrm>
            <a:off x="1737360" y="3813048"/>
            <a:ext cx="9357055" cy="685800"/>
          </a:xfrm>
          <a:prstGeom prst="rect">
            <a:avLst/>
          </a:prstGeom>
          <a:noFill/>
        </p:spPr>
        <p:txBody>
          <a:bodyPr wrap="square">
            <a:spAutoFit/>
          </a:bodyPr>
          <a:lstStyle/>
          <a:p>
            <a:pPr algn="l">
              <a:spcAft>
                <a:spcPts val="200"/>
              </a:spcAft>
            </a:pPr>
            <a:r>
              <a:rPr sz="1600" b="1" i="0">
                <a:solidFill>
                  <a:srgbClr val="0F172A"/>
                </a:solidFill>
                <a:latin typeface="Segoe UI"/>
              </a:rPr>
              <a:t>Autoencoder error above threshold</a:t>
            </a:r>
          </a:p>
          <a:p>
            <a:pPr>
              <a:spcAft>
                <a:spcPts val="0"/>
              </a:spcAft>
            </a:pPr>
            <a:r>
              <a:rPr sz="1300" b="0" i="0">
                <a:solidFill>
                  <a:srgbClr val="334155"/>
                </a:solidFill>
                <a:latin typeface="Segoe UI"/>
              </a:rPr>
              <a:t>Raise "Anomaly (unknown)": MEDIUM if error ≥ 2× threshold, else LOW</a:t>
            </a:r>
          </a:p>
        </p:txBody>
      </p:sp>
      <p:sp>
        <p:nvSpPr>
          <p:cNvPr id="15" name="Rounded Rectangle 14"/>
          <p:cNvSpPr/>
          <p:nvPr/>
        </p:nvSpPr>
        <p:spPr>
          <a:xfrm>
            <a:off x="822960" y="4800600"/>
            <a:ext cx="10545775" cy="123444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97280" y="4956048"/>
            <a:ext cx="9997135" cy="1005840"/>
          </a:xfrm>
          <a:prstGeom prst="rect">
            <a:avLst/>
          </a:prstGeom>
          <a:noFill/>
        </p:spPr>
        <p:txBody>
          <a:bodyPr wrap="square">
            <a:spAutoFit/>
          </a:bodyPr>
          <a:lstStyle/>
          <a:p>
            <a:pPr algn="l">
              <a:spcAft>
                <a:spcPts val="600"/>
              </a:spcAft>
            </a:pPr>
            <a:r>
              <a:rPr sz="1400" b="1" i="0">
                <a:solidFill>
                  <a:srgbClr val="0EA5E9"/>
                </a:solidFill>
                <a:latin typeface="Segoe UI"/>
              </a:rPr>
              <a:t>Corroboration: the rule that makes this practical</a:t>
            </a:r>
          </a:p>
          <a:p>
            <a:pPr>
              <a:spcAft>
                <a:spcPts val="600"/>
              </a:spcAft>
            </a:pPr>
            <a:r>
              <a:rPr sz="1400" b="0" i="0">
                <a:solidFill>
                  <a:srgbClr val="FFFFFF"/>
                </a:solidFill>
                <a:latin typeface="Segoe UI"/>
              </a:rPr>
              <a:t>Weak evidence (lite model, medium confidence, or an anomaly) needs 3 flagged flows from one source within 10 s before any alert. Without it, the autoencoder's 1.01% false-alarm rate over 278,975 benign test flows would mean roughly 2,800 spurious alerts.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RESPONSE</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Automated response</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9</a:t>
            </a:r>
          </a:p>
        </p:txBody>
      </p:sp>
      <p:graphicFrame>
        <p:nvGraphicFramePr>
          <p:cNvPr id="6" name="Table 5"/>
          <p:cNvGraphicFramePr>
            <a:graphicFrameLocks noGrp="1"/>
          </p:cNvGraphicFramePr>
          <p:nvPr/>
        </p:nvGraphicFramePr>
        <p:xfrm>
          <a:off x="822960" y="1783080"/>
          <a:ext cx="10545774" cy="1755648"/>
        </p:xfrm>
        <a:graphic>
          <a:graphicData uri="http://schemas.openxmlformats.org/drawingml/2006/table">
            <a:tbl>
              <a:tblPr firstRow="1" bandRow="1">
                <a:tableStyleId>{5C22544A-7EE6-4342-B048-85BDC9FD1C3A}</a:tableStyleId>
              </a:tblPr>
              <a:tblGrid>
                <a:gridCol w="1370950"/>
                <a:gridCol w="1581866"/>
                <a:gridCol w="5061972"/>
                <a:gridCol w="2530986"/>
              </a:tblGrid>
              <a:tr h="438912">
                <a:tc>
                  <a:txBody>
                    <a:bodyPr wrap="square"/>
                    <a:lstStyle/>
                    <a:p>
                      <a:pPr algn="l"/>
                      <a:r>
                        <a:rPr sz="1300" b="1">
                          <a:solidFill>
                            <a:srgbClr val="FFFFFF"/>
                          </a:solidFill>
                          <a:latin typeface="Segoe UI"/>
                        </a:rPr>
                        <a:t>Severity</a:t>
                      </a:r>
                    </a:p>
                  </a:txBody>
                  <a:tcPr marL="73152" marR="73152" marT="18288" marB="18288" anchor="ctr">
                    <a:solidFill>
                      <a:srgbClr val="0F172A"/>
                    </a:solidFill>
                  </a:tcPr>
                </a:tc>
                <a:tc>
                  <a:txBody>
                    <a:bodyPr wrap="square"/>
                    <a:lstStyle/>
                    <a:p>
                      <a:pPr algn="ctr"/>
                      <a:r>
                        <a:rPr sz="1300" b="1">
                          <a:solidFill>
                            <a:srgbClr val="FFFFFF"/>
                          </a:solidFill>
                          <a:latin typeface="Segoe UI"/>
                        </a:rPr>
                        <a:t>Action</a:t>
                      </a:r>
                    </a:p>
                  </a:txBody>
                  <a:tcPr marL="73152" marR="73152" marT="18288" marB="18288" anchor="ctr">
                    <a:solidFill>
                      <a:srgbClr val="0F172A"/>
                    </a:solidFill>
                  </a:tcPr>
                </a:tc>
                <a:tc>
                  <a:txBody>
                    <a:bodyPr wrap="square"/>
                    <a:lstStyle/>
                    <a:p>
                      <a:pPr algn="ctr"/>
                      <a:r>
                        <a:rPr sz="1300" b="1">
                          <a:solidFill>
                            <a:srgbClr val="FFFFFF"/>
                          </a:solidFill>
                          <a:latin typeface="Segoe UI"/>
                        </a:rPr>
                        <a:t>Mechanism</a:t>
                      </a:r>
                    </a:p>
                  </a:txBody>
                  <a:tcPr marL="73152" marR="73152" marT="18288" marB="18288" anchor="ctr">
                    <a:solidFill>
                      <a:srgbClr val="0F172A"/>
                    </a:solidFill>
                  </a:tcPr>
                </a:tc>
                <a:tc>
                  <a:txBody>
                    <a:bodyPr wrap="square"/>
                    <a:lstStyle/>
                    <a:p>
                      <a:pPr algn="ctr"/>
                      <a:r>
                        <a:rPr sz="1300" b="1">
                          <a:solidFill>
                            <a:srgbClr val="FFFFFF"/>
                          </a:solidFill>
                          <a:latin typeface="Segoe UI"/>
                        </a:rPr>
                        <a:t>Duration</a:t>
                      </a:r>
                    </a:p>
                  </a:txBody>
                  <a:tcPr marL="73152" marR="73152" marT="18288" marB="18288" anchor="ctr">
                    <a:solidFill>
                      <a:srgbClr val="0F172A"/>
                    </a:solidFill>
                  </a:tcPr>
                </a:tc>
              </a:tr>
              <a:tr h="438912">
                <a:tc>
                  <a:txBody>
                    <a:bodyPr wrap="square"/>
                    <a:lstStyle/>
                    <a:p>
                      <a:pPr algn="l"/>
                      <a:r>
                        <a:rPr sz="1300" b="0">
                          <a:solidFill>
                            <a:srgbClr val="334155"/>
                          </a:solidFill>
                          <a:latin typeface="Segoe UI"/>
                        </a:rPr>
                        <a:t>HIGH</a:t>
                      </a:r>
                    </a:p>
                  </a:txBody>
                  <a:tcPr marL="73152" marR="73152" marT="18288" marB="18288" anchor="ctr">
                    <a:solidFill>
                      <a:srgbClr val="FFFFFF"/>
                    </a:solidFill>
                  </a:tcPr>
                </a:tc>
                <a:tc>
                  <a:txBody>
                    <a:bodyPr wrap="square"/>
                    <a:lstStyle/>
                    <a:p>
                      <a:pPr algn="ctr"/>
                      <a:r>
                        <a:rPr sz="1300" b="0">
                          <a:solidFill>
                            <a:srgbClr val="334155"/>
                          </a:solidFill>
                          <a:latin typeface="Segoe UI"/>
                        </a:rPr>
                        <a:t>Block</a:t>
                      </a:r>
                    </a:p>
                  </a:txBody>
                  <a:tcPr marL="73152" marR="73152" marT="18288" marB="18288" anchor="ctr">
                    <a:solidFill>
                      <a:srgbClr val="FFFFFF"/>
                    </a:solidFill>
                  </a:tcPr>
                </a:tc>
                <a:tc>
                  <a:txBody>
                    <a:bodyPr wrap="square"/>
                    <a:lstStyle/>
                    <a:p>
                      <a:pPr algn="ctr"/>
                      <a:r>
                        <a:rPr sz="1300" b="0">
                          <a:solidFill>
                            <a:srgbClr val="334155"/>
                          </a:solidFill>
                          <a:latin typeface="Segoe UI"/>
                        </a:rPr>
                        <a:t>iptables -A NETRA -s &lt;ip&gt; -j DROP</a:t>
                      </a:r>
                    </a:p>
                  </a:txBody>
                  <a:tcPr marL="73152" marR="73152" marT="18288" marB="18288" anchor="ctr">
                    <a:solidFill>
                      <a:srgbClr val="FFFFFF"/>
                    </a:solidFill>
                  </a:tcPr>
                </a:tc>
                <a:tc>
                  <a:txBody>
                    <a:bodyPr wrap="square"/>
                    <a:lstStyle/>
                    <a:p>
                      <a:pPr algn="ctr"/>
                      <a:r>
                        <a:rPr sz="1300" b="0">
                          <a:solidFill>
                            <a:srgbClr val="334155"/>
                          </a:solidFill>
                          <a:latin typeface="Segoe UI"/>
                        </a:rPr>
                        <a:t>120 s (90 s in lab)</a:t>
                      </a:r>
                    </a:p>
                  </a:txBody>
                  <a:tcPr marL="73152" marR="73152" marT="18288" marB="18288" anchor="ctr">
                    <a:solidFill>
                      <a:srgbClr val="FFFFFF"/>
                    </a:solidFill>
                  </a:tcPr>
                </a:tc>
              </a:tr>
              <a:tr h="438912">
                <a:tc>
                  <a:txBody>
                    <a:bodyPr wrap="square"/>
                    <a:lstStyle/>
                    <a:p>
                      <a:pPr algn="l"/>
                      <a:r>
                        <a:rPr sz="1300" b="0">
                          <a:solidFill>
                            <a:srgbClr val="334155"/>
                          </a:solidFill>
                          <a:latin typeface="Segoe UI"/>
                        </a:rPr>
                        <a:t>MEDIUM</a:t>
                      </a:r>
                    </a:p>
                  </a:txBody>
                  <a:tcPr marL="73152" marR="73152" marT="18288" marB="18288" anchor="ctr">
                    <a:solidFill>
                      <a:srgbClr val="F1F5F9"/>
                    </a:solidFill>
                  </a:tcPr>
                </a:tc>
                <a:tc>
                  <a:txBody>
                    <a:bodyPr wrap="square"/>
                    <a:lstStyle/>
                    <a:p>
                      <a:pPr algn="ctr"/>
                      <a:r>
                        <a:rPr sz="1300" b="0">
                          <a:solidFill>
                            <a:srgbClr val="334155"/>
                          </a:solidFill>
                          <a:latin typeface="Segoe UI"/>
                        </a:rPr>
                        <a:t>Quarantine</a:t>
                      </a:r>
                    </a:p>
                  </a:txBody>
                  <a:tcPr marL="73152" marR="73152" marT="18288" marB="18288" anchor="ctr">
                    <a:solidFill>
                      <a:srgbClr val="F1F5F9"/>
                    </a:solidFill>
                  </a:tcPr>
                </a:tc>
                <a:tc>
                  <a:txBody>
                    <a:bodyPr wrap="square"/>
                    <a:lstStyle/>
                    <a:p>
                      <a:pPr algn="ctr"/>
                      <a:r>
                        <a:rPr sz="1300" b="0">
                          <a:solidFill>
                            <a:srgbClr val="334155"/>
                          </a:solidFill>
                          <a:latin typeface="Segoe UI"/>
                        </a:rPr>
                        <a:t>accept 10 packets/s from the source, drop the rest</a:t>
                      </a:r>
                    </a:p>
                  </a:txBody>
                  <a:tcPr marL="73152" marR="73152" marT="18288" marB="18288" anchor="ctr">
                    <a:solidFill>
                      <a:srgbClr val="F1F5F9"/>
                    </a:solidFill>
                  </a:tcPr>
                </a:tc>
                <a:tc>
                  <a:txBody>
                    <a:bodyPr wrap="square"/>
                    <a:lstStyle/>
                    <a:p>
                      <a:pPr algn="ctr"/>
                      <a:r>
                        <a:rPr sz="1300" b="0">
                          <a:solidFill>
                            <a:srgbClr val="334155"/>
                          </a:solidFill>
                          <a:latin typeface="Segoe UI"/>
                        </a:rPr>
                        <a:t>60 s</a:t>
                      </a:r>
                    </a:p>
                  </a:txBody>
                  <a:tcPr marL="73152" marR="73152" marT="18288" marB="18288" anchor="ctr">
                    <a:solidFill>
                      <a:srgbClr val="F1F5F9"/>
                    </a:solidFill>
                  </a:tcPr>
                </a:tc>
              </a:tr>
              <a:tr h="438912">
                <a:tc>
                  <a:txBody>
                    <a:bodyPr wrap="square"/>
                    <a:lstStyle/>
                    <a:p>
                      <a:pPr algn="l"/>
                      <a:r>
                        <a:rPr sz="1300" b="0">
                          <a:solidFill>
                            <a:srgbClr val="334155"/>
                          </a:solidFill>
                          <a:latin typeface="Segoe UI"/>
                        </a:rPr>
                        <a:t>LOW</a:t>
                      </a:r>
                    </a:p>
                  </a:txBody>
                  <a:tcPr marL="73152" marR="73152" marT="18288" marB="18288" anchor="ctr">
                    <a:solidFill>
                      <a:srgbClr val="FFFFFF"/>
                    </a:solidFill>
                  </a:tcPr>
                </a:tc>
                <a:tc>
                  <a:txBody>
                    <a:bodyPr wrap="square"/>
                    <a:lstStyle/>
                    <a:p>
                      <a:pPr algn="ctr"/>
                      <a:r>
                        <a:rPr sz="1300" b="0">
                          <a:solidFill>
                            <a:srgbClr val="334155"/>
                          </a:solidFill>
                          <a:latin typeface="Segoe UI"/>
                        </a:rPr>
                        <a:t>Log only</a:t>
                      </a:r>
                    </a:p>
                  </a:txBody>
                  <a:tcPr marL="73152" marR="73152" marT="18288" marB="18288" anchor="ctr">
                    <a:solidFill>
                      <a:srgbClr val="FFFFFF"/>
                    </a:solidFill>
                  </a:tcPr>
                </a:tc>
                <a:tc>
                  <a:txBody>
                    <a:bodyPr wrap="square"/>
                    <a:lstStyle/>
                    <a:p>
                      <a:pPr algn="ctr"/>
                      <a:r>
                        <a:rPr sz="1300" b="0">
                          <a:solidFill>
                            <a:srgbClr val="334155"/>
                          </a:solidFill>
                          <a:latin typeface="Segoe UI"/>
                        </a:rPr>
                        <a:t>written to logs/alerts.jsonl</a:t>
                      </a:r>
                    </a:p>
                  </a:txBody>
                  <a:tcPr marL="73152" marR="73152" marT="18288" marB="18288" anchor="ctr">
                    <a:solidFill>
                      <a:srgbClr val="FFFFFF"/>
                    </a:solidFill>
                  </a:tcPr>
                </a:tc>
                <a:tc>
                  <a:txBody>
                    <a:bodyPr wrap="square"/>
                    <a:lstStyle/>
                    <a:p>
                      <a:pPr algn="ctr"/>
                      <a:r>
                        <a:rPr sz="1300" b="0">
                          <a:solidFill>
                            <a:srgbClr val="334155"/>
                          </a:solidFill>
                          <a:latin typeface="Segoe UI"/>
                        </a:rPr>
                        <a:t>n/a</a:t>
                      </a:r>
                    </a:p>
                  </a:txBody>
                  <a:tcPr marL="73152" marR="73152" marT="18288" marB="18288" anchor="ctr">
                    <a:solidFill>
                      <a:srgbClr val="FFFFFF"/>
                    </a:solidFill>
                  </a:tcPr>
                </a:tc>
              </a:tr>
            </a:tbl>
          </a:graphicData>
        </a:graphic>
      </p:graphicFrame>
      <p:sp>
        <p:nvSpPr>
          <p:cNvPr id="7" name="TextBox 6"/>
          <p:cNvSpPr txBox="1"/>
          <p:nvPr/>
        </p:nvSpPr>
        <p:spPr>
          <a:xfrm>
            <a:off x="822960" y="3429000"/>
            <a:ext cx="10545775" cy="365760"/>
          </a:xfrm>
          <a:prstGeom prst="rect">
            <a:avLst/>
          </a:prstGeom>
          <a:noFill/>
        </p:spPr>
        <p:txBody>
          <a:bodyPr wrap="square">
            <a:spAutoFit/>
          </a:bodyPr>
          <a:lstStyle/>
          <a:p>
            <a:pPr algn="l">
              <a:spcAft>
                <a:spcPts val="600"/>
              </a:spcAft>
            </a:pPr>
            <a:r>
              <a:rPr sz="1600" b="1" i="0">
                <a:solidFill>
                  <a:srgbClr val="0F172A"/>
                </a:solidFill>
                <a:latin typeface="Segoe UI"/>
              </a:rPr>
              <a:t>Why automated blocking is defensible here</a:t>
            </a:r>
          </a:p>
        </p:txBody>
      </p:sp>
      <p:sp>
        <p:nvSpPr>
          <p:cNvPr id="8" name="TextBox 7"/>
          <p:cNvSpPr txBox="1"/>
          <p:nvPr/>
        </p:nvSpPr>
        <p:spPr>
          <a:xfrm>
            <a:off x="822960" y="3886200"/>
            <a:ext cx="10545775" cy="2331720"/>
          </a:xfrm>
          <a:prstGeom prst="rect">
            <a:avLst/>
          </a:prstGeom>
          <a:noFill/>
        </p:spPr>
        <p:txBody>
          <a:bodyPr wrap="square">
            <a:spAutoFit/>
          </a:bodyPr>
          <a:lstStyle/>
          <a:p>
            <a:pPr algn="l">
              <a:spcAft>
                <a:spcPts val="1000"/>
              </a:spcAft>
            </a:pPr>
            <a:r>
              <a:rPr sz="1500">
                <a:solidFill>
                  <a:srgbClr val="334155"/>
                </a:solidFill>
                <a:latin typeface="Segoe UI"/>
              </a:rPr>
              <a:t>•  Every rule is time-limited and removed by a background thread on expiry, so a false positive is a bounded outage for one address, never a permanent one.</a:t>
            </a:r>
          </a:p>
          <a:p>
            <a:pPr>
              <a:spcAft>
                <a:spcPts val="1000"/>
              </a:spcAft>
            </a:pPr>
            <a:r>
              <a:rPr sz="1500">
                <a:solidFill>
                  <a:srgbClr val="334155"/>
                </a:solidFill>
                <a:latin typeface="Segoe UI"/>
              </a:rPr>
              <a:t>•  All rules live in one dedicated NETRA chain: the entire footprint is inspectable with one command and removable with one more.</a:t>
            </a:r>
          </a:p>
          <a:p>
            <a:pPr>
              <a:spcAft>
                <a:spcPts val="1000"/>
              </a:spcAft>
            </a:pPr>
            <a:r>
              <a:rPr sz="1500">
                <a:solidFill>
                  <a:srgbClr val="334155"/>
                </a:solidFill>
                <a:latin typeface="Segoe UI"/>
              </a:rPr>
              <a:t>•  A never-block list protects loopback, the gateways and the protected server itself.</a:t>
            </a:r>
          </a:p>
          <a:p>
            <a:pPr>
              <a:spcAft>
                <a:spcPts val="1000"/>
              </a:spcAft>
            </a:pPr>
            <a:r>
              <a:rPr sz="1500">
                <a:solidFill>
                  <a:srgbClr val="334155"/>
                </a:solidFill>
                <a:latin typeface="Segoe UI"/>
              </a:rPr>
              <a:t>•  Repeated alerts extend an existing block rather than stacking duplicate rules; a block supersedes a quarantine.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DATA</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Dataset: CIC-IDS2017</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10</a:t>
            </a:r>
          </a:p>
        </p:txBody>
      </p:sp>
      <p:sp>
        <p:nvSpPr>
          <p:cNvPr id="6" name="Rounded Rectangle 5"/>
          <p:cNvSpPr/>
          <p:nvPr/>
        </p:nvSpPr>
        <p:spPr>
          <a:xfrm>
            <a:off x="822960" y="173736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60" y="1865376"/>
            <a:ext cx="2512999" cy="502920"/>
          </a:xfrm>
          <a:prstGeom prst="rect">
            <a:avLst/>
          </a:prstGeom>
          <a:noFill/>
        </p:spPr>
        <p:txBody>
          <a:bodyPr wrap="square">
            <a:spAutoFit/>
          </a:bodyPr>
          <a:lstStyle/>
          <a:p>
            <a:pPr algn="ctr">
              <a:spcAft>
                <a:spcPts val="0"/>
              </a:spcAft>
            </a:pPr>
            <a:r>
              <a:rPr sz="2800" b="1" i="0">
                <a:solidFill>
                  <a:srgbClr val="0F172A"/>
                </a:solidFill>
                <a:latin typeface="Segoe UI"/>
              </a:rPr>
              <a:t>2,830,743</a:t>
            </a:r>
          </a:p>
        </p:txBody>
      </p:sp>
      <p:sp>
        <p:nvSpPr>
          <p:cNvPr id="8" name="TextBox 7"/>
          <p:cNvSpPr txBox="1"/>
          <p:nvPr/>
        </p:nvSpPr>
        <p:spPr>
          <a:xfrm>
            <a:off x="822960" y="235915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labelled flows published</a:t>
            </a:r>
          </a:p>
        </p:txBody>
      </p:sp>
      <p:sp>
        <p:nvSpPr>
          <p:cNvPr id="9" name="Rounded Rectangle 8"/>
          <p:cNvSpPr/>
          <p:nvPr/>
        </p:nvSpPr>
        <p:spPr>
          <a:xfrm>
            <a:off x="3500551" y="173736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500551" y="1865376"/>
            <a:ext cx="2512999" cy="502920"/>
          </a:xfrm>
          <a:prstGeom prst="rect">
            <a:avLst/>
          </a:prstGeom>
          <a:noFill/>
        </p:spPr>
        <p:txBody>
          <a:bodyPr wrap="square">
            <a:spAutoFit/>
          </a:bodyPr>
          <a:lstStyle/>
          <a:p>
            <a:pPr algn="ctr">
              <a:spcAft>
                <a:spcPts val="0"/>
              </a:spcAft>
            </a:pPr>
            <a:r>
              <a:rPr sz="2800" b="1" i="0">
                <a:solidFill>
                  <a:srgbClr val="0EA5E9"/>
                </a:solidFill>
                <a:latin typeface="Segoe UI"/>
              </a:rPr>
              <a:t>2,195,946</a:t>
            </a:r>
          </a:p>
        </p:txBody>
      </p:sp>
      <p:sp>
        <p:nvSpPr>
          <p:cNvPr id="11" name="TextBox 10"/>
          <p:cNvSpPr txBox="1"/>
          <p:nvPr/>
        </p:nvSpPr>
        <p:spPr>
          <a:xfrm>
            <a:off x="3500551" y="235915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flows after cleaning</a:t>
            </a:r>
          </a:p>
        </p:txBody>
      </p:sp>
      <p:sp>
        <p:nvSpPr>
          <p:cNvPr id="12" name="Rounded Rectangle 11"/>
          <p:cNvSpPr/>
          <p:nvPr/>
        </p:nvSpPr>
        <p:spPr>
          <a:xfrm>
            <a:off x="6178142" y="173736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78142" y="1865376"/>
            <a:ext cx="2512999" cy="502920"/>
          </a:xfrm>
          <a:prstGeom prst="rect">
            <a:avLst/>
          </a:prstGeom>
          <a:noFill/>
        </p:spPr>
        <p:txBody>
          <a:bodyPr wrap="square">
            <a:spAutoFit/>
          </a:bodyPr>
          <a:lstStyle/>
          <a:p>
            <a:pPr algn="ctr">
              <a:spcAft>
                <a:spcPts val="0"/>
              </a:spcAft>
            </a:pPr>
            <a:r>
              <a:rPr sz="2800" b="1" i="0">
                <a:solidFill>
                  <a:srgbClr val="0F172A"/>
                </a:solidFill>
                <a:latin typeface="Segoe UI"/>
              </a:rPr>
              <a:t>8</a:t>
            </a:r>
          </a:p>
        </p:txBody>
      </p:sp>
      <p:sp>
        <p:nvSpPr>
          <p:cNvPr id="14" name="TextBox 13"/>
          <p:cNvSpPr txBox="1"/>
          <p:nvPr/>
        </p:nvSpPr>
        <p:spPr>
          <a:xfrm>
            <a:off x="6178142" y="235915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classes retained</a:t>
            </a:r>
          </a:p>
        </p:txBody>
      </p:sp>
      <p:sp>
        <p:nvSpPr>
          <p:cNvPr id="15" name="Rounded Rectangle 14"/>
          <p:cNvSpPr/>
          <p:nvPr/>
        </p:nvSpPr>
        <p:spPr>
          <a:xfrm>
            <a:off x="8855733" y="173736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855733" y="1865376"/>
            <a:ext cx="2512999" cy="502920"/>
          </a:xfrm>
          <a:prstGeom prst="rect">
            <a:avLst/>
          </a:prstGeom>
          <a:noFill/>
        </p:spPr>
        <p:txBody>
          <a:bodyPr wrap="square">
            <a:spAutoFit/>
          </a:bodyPr>
          <a:lstStyle/>
          <a:p>
            <a:pPr algn="ctr">
              <a:spcAft>
                <a:spcPts val="0"/>
              </a:spcAft>
            </a:pPr>
            <a:r>
              <a:rPr sz="2800" b="1" i="0">
                <a:solidFill>
                  <a:srgbClr val="0F172A"/>
                </a:solidFill>
                <a:latin typeface="Segoe UI"/>
              </a:rPr>
              <a:t>59</a:t>
            </a:r>
          </a:p>
        </p:txBody>
      </p:sp>
      <p:sp>
        <p:nvSpPr>
          <p:cNvPr id="17" name="TextBox 16"/>
          <p:cNvSpPr txBox="1"/>
          <p:nvPr/>
        </p:nvSpPr>
        <p:spPr>
          <a:xfrm>
            <a:off x="8855733" y="235915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model features</a:t>
            </a:r>
          </a:p>
        </p:txBody>
      </p:sp>
      <p:sp>
        <p:nvSpPr>
          <p:cNvPr id="18" name="TextBox 17"/>
          <p:cNvSpPr txBox="1"/>
          <p:nvPr/>
        </p:nvSpPr>
        <p:spPr>
          <a:xfrm>
            <a:off x="822960" y="3017520"/>
            <a:ext cx="10545775" cy="320040"/>
          </a:xfrm>
          <a:prstGeom prst="rect">
            <a:avLst/>
          </a:prstGeom>
          <a:noFill/>
        </p:spPr>
        <p:txBody>
          <a:bodyPr wrap="square">
            <a:spAutoFit/>
          </a:bodyPr>
          <a:lstStyle/>
          <a:p>
            <a:pPr algn="l">
              <a:spcAft>
                <a:spcPts val="600"/>
              </a:spcAft>
            </a:pPr>
            <a:r>
              <a:rPr sz="1600" b="1" i="0">
                <a:solidFill>
                  <a:srgbClr val="0F172A"/>
                </a:solidFill>
                <a:latin typeface="Segoe UI"/>
              </a:rPr>
              <a:t>Cleaning pipeline, with the effect of every step recorded</a:t>
            </a:r>
          </a:p>
        </p:txBody>
      </p:sp>
      <p:graphicFrame>
        <p:nvGraphicFramePr>
          <p:cNvPr id="19" name="Table 18"/>
          <p:cNvGraphicFramePr>
            <a:graphicFrameLocks noGrp="1"/>
          </p:cNvGraphicFramePr>
          <p:nvPr/>
        </p:nvGraphicFramePr>
        <p:xfrm>
          <a:off x="822960" y="3401568"/>
          <a:ext cx="10545775" cy="2194560"/>
        </p:xfrm>
        <a:graphic>
          <a:graphicData uri="http://schemas.openxmlformats.org/drawingml/2006/table">
            <a:tbl>
              <a:tblPr firstRow="1" bandRow="1">
                <a:tableStyleId>{5C22544A-7EE6-4342-B048-85BDC9FD1C3A}</a:tableStyleId>
              </a:tblPr>
              <a:tblGrid>
                <a:gridCol w="7592958"/>
                <a:gridCol w="2952817"/>
              </a:tblGrid>
              <a:tr h="365760">
                <a:tc>
                  <a:txBody>
                    <a:bodyPr wrap="square"/>
                    <a:lstStyle/>
                    <a:p>
                      <a:pPr algn="l"/>
                      <a:r>
                        <a:rPr sz="1300" b="1">
                          <a:solidFill>
                            <a:srgbClr val="FFFFFF"/>
                          </a:solidFill>
                          <a:latin typeface="Segoe UI"/>
                        </a:rPr>
                        <a:t>Step</a:t>
                      </a:r>
                    </a:p>
                  </a:txBody>
                  <a:tcPr marL="73152" marR="73152" marT="18288" marB="18288" anchor="ctr">
                    <a:solidFill>
                      <a:srgbClr val="0F172A"/>
                    </a:solidFill>
                  </a:tcPr>
                </a:tc>
                <a:tc>
                  <a:txBody>
                    <a:bodyPr wrap="square"/>
                    <a:lstStyle/>
                    <a:p>
                      <a:pPr algn="ctr"/>
                      <a:r>
                        <a:rPr sz="1300" b="1">
                          <a:solidFill>
                            <a:srgbClr val="FFFFFF"/>
                          </a:solidFill>
                          <a:latin typeface="Segoe UI"/>
                        </a:rPr>
                        <a:t>Rows removed</a:t>
                      </a:r>
                    </a:p>
                  </a:txBody>
                  <a:tcPr marL="73152" marR="73152" marT="18288" marB="18288" anchor="ctr">
                    <a:solidFill>
                      <a:srgbClr val="0F172A"/>
                    </a:solidFill>
                  </a:tcPr>
                </a:tc>
              </a:tr>
              <a:tr h="365760">
                <a:tc>
                  <a:txBody>
                    <a:bodyPr wrap="square"/>
                    <a:lstStyle/>
                    <a:p>
                      <a:pPr algn="l"/>
                      <a:r>
                        <a:rPr sz="1300" b="0">
                          <a:solidFill>
                            <a:srgbClr val="334155"/>
                          </a:solidFill>
                          <a:latin typeface="Segoe UI"/>
                        </a:rPr>
                        <a:t>Rows containing NaN or infinite values</a:t>
                      </a:r>
                    </a:p>
                  </a:txBody>
                  <a:tcPr marL="73152" marR="73152" marT="18288" marB="18288" anchor="ctr">
                    <a:solidFill>
                      <a:srgbClr val="FFFFFF"/>
                    </a:solidFill>
                  </a:tcPr>
                </a:tc>
                <a:tc>
                  <a:txBody>
                    <a:bodyPr wrap="square"/>
                    <a:lstStyle/>
                    <a:p>
                      <a:pPr algn="ctr"/>
                      <a:r>
                        <a:rPr sz="1300" b="0">
                          <a:solidFill>
                            <a:srgbClr val="334155"/>
                          </a:solidFill>
                          <a:latin typeface="Segoe UI"/>
                        </a:rPr>
                        <a:t>2,867</a:t>
                      </a:r>
                    </a:p>
                  </a:txBody>
                  <a:tcPr marL="73152" marR="73152" marT="18288" marB="18288" anchor="ctr">
                    <a:solidFill>
                      <a:srgbClr val="FFFFFF"/>
                    </a:solidFill>
                  </a:tcPr>
                </a:tc>
              </a:tr>
              <a:tr h="365760">
                <a:tc>
                  <a:txBody>
                    <a:bodyPr wrap="square"/>
                    <a:lstStyle/>
                    <a:p>
                      <a:pPr algn="l"/>
                      <a:r>
                        <a:rPr sz="1300" b="0">
                          <a:solidFill>
                            <a:srgbClr val="334155"/>
                          </a:solidFill>
                          <a:latin typeface="Segoe UI"/>
                        </a:rPr>
                        <a:t>Exact duplicate rows</a:t>
                      </a:r>
                    </a:p>
                  </a:txBody>
                  <a:tcPr marL="73152" marR="73152" marT="18288" marB="18288" anchor="ctr">
                    <a:solidFill>
                      <a:srgbClr val="F1F5F9"/>
                    </a:solidFill>
                  </a:tcPr>
                </a:tc>
                <a:tc>
                  <a:txBody>
                    <a:bodyPr wrap="square"/>
                    <a:lstStyle/>
                    <a:p>
                      <a:pPr algn="ctr"/>
                      <a:r>
                        <a:rPr sz="1300" b="0">
                          <a:solidFill>
                            <a:srgbClr val="334155"/>
                          </a:solidFill>
                          <a:latin typeface="Segoe UI"/>
                        </a:rPr>
                        <a:t>631,253</a:t>
                      </a:r>
                    </a:p>
                  </a:txBody>
                  <a:tcPr marL="73152" marR="73152" marT="18288" marB="18288" anchor="ctr">
                    <a:solidFill>
                      <a:srgbClr val="F1F5F9"/>
                    </a:solidFill>
                  </a:tcPr>
                </a:tc>
              </a:tr>
              <a:tr h="365760">
                <a:tc>
                  <a:txBody>
                    <a:bodyPr wrap="square"/>
                    <a:lstStyle/>
                    <a:p>
                      <a:pPr algn="l"/>
                      <a:r>
                        <a:rPr sz="1300" b="0">
                          <a:solidFill>
                            <a:srgbClr val="334155"/>
                          </a:solidFill>
                          <a:latin typeface="Segoe UI"/>
                        </a:rPr>
                        <a:t>Identical features with conflicting labels</a:t>
                      </a:r>
                    </a:p>
                  </a:txBody>
                  <a:tcPr marL="73152" marR="73152" marT="18288" marB="18288" anchor="ctr">
                    <a:solidFill>
                      <a:srgbClr val="FFFFFF"/>
                    </a:solidFill>
                  </a:tcPr>
                </a:tc>
                <a:tc>
                  <a:txBody>
                    <a:bodyPr wrap="square"/>
                    <a:lstStyle/>
                    <a:p>
                      <a:pPr algn="ctr"/>
                      <a:r>
                        <a:rPr sz="1300" b="0">
                          <a:solidFill>
                            <a:srgbClr val="334155"/>
                          </a:solidFill>
                          <a:latin typeface="Segoe UI"/>
                        </a:rPr>
                        <a:t>630</a:t>
                      </a:r>
                    </a:p>
                  </a:txBody>
                  <a:tcPr marL="73152" marR="73152" marT="18288" marB="18288" anchor="ctr">
                    <a:solidFill>
                      <a:srgbClr val="FFFFFF"/>
                    </a:solidFill>
                  </a:tcPr>
                </a:tc>
              </a:tr>
              <a:tr h="365760">
                <a:tc>
                  <a:txBody>
                    <a:bodyPr wrap="square"/>
                    <a:lstStyle/>
                    <a:p>
                      <a:pPr algn="l"/>
                      <a:r>
                        <a:rPr sz="1300" b="0">
                          <a:solidFill>
                            <a:srgbClr val="334155"/>
                          </a:solidFill>
                          <a:latin typeface="Segoe UI"/>
                        </a:rPr>
                        <a:t>Classes with under 100 rows (Heartbleed 11, Infiltration 36)</a:t>
                      </a:r>
                    </a:p>
                  </a:txBody>
                  <a:tcPr marL="73152" marR="73152" marT="18288" marB="18288" anchor="ctr">
                    <a:solidFill>
                      <a:srgbClr val="F1F5F9"/>
                    </a:solidFill>
                  </a:tcPr>
                </a:tc>
                <a:tc>
                  <a:txBody>
                    <a:bodyPr wrap="square"/>
                    <a:lstStyle/>
                    <a:p>
                      <a:pPr algn="ctr"/>
                      <a:r>
                        <a:rPr sz="1300" b="0">
                          <a:solidFill>
                            <a:srgbClr val="334155"/>
                          </a:solidFill>
                          <a:latin typeface="Segoe UI"/>
                        </a:rPr>
                        <a:t>47</a:t>
                      </a:r>
                    </a:p>
                  </a:txBody>
                  <a:tcPr marL="73152" marR="73152" marT="18288" marB="18288" anchor="ctr">
                    <a:solidFill>
                      <a:srgbClr val="F1F5F9"/>
                    </a:solidFill>
                  </a:tcPr>
                </a:tc>
              </a:tr>
              <a:tr h="365760">
                <a:tc>
                  <a:txBody>
                    <a:bodyPr wrap="square"/>
                    <a:lstStyle/>
                    <a:p>
                      <a:pPr algn="l"/>
                      <a:r>
                        <a:rPr sz="1300" b="1">
                          <a:solidFill>
                            <a:srgbClr val="0F172A"/>
                          </a:solidFill>
                          <a:latin typeface="Segoe UI"/>
                        </a:rPr>
                        <a:t>Remaining</a:t>
                      </a:r>
                    </a:p>
                  </a:txBody>
                  <a:tcPr marL="73152" marR="73152" marT="18288" marB="18288" anchor="ctr">
                    <a:solidFill>
                      <a:srgbClr val="FFFFFF"/>
                    </a:solidFill>
                  </a:tcPr>
                </a:tc>
                <a:tc>
                  <a:txBody>
                    <a:bodyPr wrap="square"/>
                    <a:lstStyle/>
                    <a:p>
                      <a:pPr algn="ctr"/>
                      <a:r>
                        <a:rPr sz="1300" b="1">
                          <a:solidFill>
                            <a:srgbClr val="0F172A"/>
                          </a:solidFill>
                          <a:latin typeface="Segoe UI"/>
                        </a:rPr>
                        <a:t>2,195,946</a:t>
                      </a:r>
                    </a:p>
                  </a:txBody>
                  <a:tcPr marL="73152" marR="73152" marT="18288" marB="18288" anchor="ctr">
                    <a:solidFill>
                      <a:srgbClr val="FFFFFF"/>
                    </a:solidFill>
                  </a:tcPr>
                </a:tc>
              </a:tr>
            </a:tbl>
          </a:graphicData>
        </a:graphic>
      </p:graphicFrame>
      <p:sp>
        <p:nvSpPr>
          <p:cNvPr id="20" name="Rounded Rectangle 19"/>
          <p:cNvSpPr/>
          <p:nvPr/>
        </p:nvSpPr>
        <p:spPr>
          <a:xfrm>
            <a:off x="822960" y="5687568"/>
            <a:ext cx="9722815" cy="603504"/>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51560" y="5779008"/>
            <a:ext cx="9265615" cy="457200"/>
          </a:xfrm>
          <a:prstGeom prst="rect">
            <a:avLst/>
          </a:prstGeom>
          <a:noFill/>
        </p:spPr>
        <p:txBody>
          <a:bodyPr wrap="square">
            <a:spAutoFit/>
          </a:bodyPr>
          <a:lstStyle/>
          <a:p>
            <a:pPr algn="l">
              <a:spcAft>
                <a:spcPts val="600"/>
              </a:spcAft>
            </a:pPr>
            <a:r>
              <a:rPr sz="1400" b="0" i="0">
                <a:solidFill>
                  <a:srgbClr val="0F172A"/>
                </a:solidFill>
                <a:latin typeface="Segoe UI"/>
              </a:rPr>
              <a:t>Duplicates alone are 22% of the data. Leaving them in leaks rows between train and test and inflates every score, which is exactly the criticism Tavallaee et al. levelled at KDD CUP 99.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DATA</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Features and splitting</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11</a:t>
            </a:r>
          </a:p>
        </p:txBody>
      </p:sp>
      <p:sp>
        <p:nvSpPr>
          <p:cNvPr id="6" name="TextBox 5"/>
          <p:cNvSpPr txBox="1"/>
          <p:nvPr/>
        </p:nvSpPr>
        <p:spPr>
          <a:xfrm>
            <a:off x="822960" y="1664208"/>
            <a:ext cx="10545775" cy="320040"/>
          </a:xfrm>
          <a:prstGeom prst="rect">
            <a:avLst/>
          </a:prstGeom>
          <a:noFill/>
        </p:spPr>
        <p:txBody>
          <a:bodyPr wrap="square">
            <a:spAutoFit/>
          </a:bodyPr>
          <a:lstStyle/>
          <a:p>
            <a:pPr algn="l">
              <a:spcAft>
                <a:spcPts val="600"/>
              </a:spcAft>
            </a:pPr>
            <a:r>
              <a:rPr sz="1600" b="1" i="0">
                <a:solidFill>
                  <a:srgbClr val="0F172A"/>
                </a:solidFill>
                <a:latin typeface="Segoe UI"/>
              </a:rPr>
              <a:t>78 published flow statistics reduce to 59 model inputs:</a:t>
            </a:r>
          </a:p>
        </p:txBody>
      </p:sp>
      <p:sp>
        <p:nvSpPr>
          <p:cNvPr id="7" name="TextBox 6"/>
          <p:cNvSpPr txBox="1"/>
          <p:nvPr/>
        </p:nvSpPr>
        <p:spPr>
          <a:xfrm>
            <a:off x="822960" y="2084831"/>
            <a:ext cx="10545775" cy="4133089"/>
          </a:xfrm>
          <a:prstGeom prst="rect">
            <a:avLst/>
          </a:prstGeom>
          <a:noFill/>
        </p:spPr>
        <p:txBody>
          <a:bodyPr wrap="square">
            <a:spAutoFit/>
          </a:bodyPr>
          <a:lstStyle/>
          <a:p>
            <a:pPr algn="l">
              <a:spcAft>
                <a:spcPts val="700"/>
              </a:spcAft>
            </a:pPr>
            <a:r>
              <a:rPr sz="1500">
                <a:solidFill>
                  <a:srgbClr val="334155"/>
                </a:solidFill>
                <a:latin typeface="Segoe UI"/>
              </a:rPr>
              <a:t>•  one column (Fwd Header Length.1) is an exact duplicate of another</a:t>
            </a:r>
          </a:p>
          <a:p>
            <a:pPr>
              <a:spcAft>
                <a:spcPts val="700"/>
              </a:spcAft>
            </a:pPr>
            <a:r>
              <a:rPr sz="1500">
                <a:solidFill>
                  <a:srgbClr val="334155"/>
                </a:solidFill>
                <a:latin typeface="Segoe UI"/>
              </a:rPr>
              <a:t>•  twelve TCP flag counters are dropped as unreliable (see the key finding slide)</a:t>
            </a:r>
          </a:p>
          <a:p>
            <a:pPr>
              <a:spcAft>
                <a:spcPts val="700"/>
              </a:spcAft>
            </a:pPr>
            <a:r>
              <a:rPr sz="1500">
                <a:solidFill>
                  <a:srgbClr val="334155"/>
                </a:solidFill>
                <a:latin typeface="Segoe UI"/>
              </a:rPr>
              <a:t>•  6 bulk-transfer columns are constant across the entire dataset and carry no information</a:t>
            </a:r>
          </a:p>
        </p:txBody>
      </p:sp>
      <p:sp>
        <p:nvSpPr>
          <p:cNvPr id="8" name="TextBox 7"/>
          <p:cNvSpPr txBox="1"/>
          <p:nvPr/>
        </p:nvSpPr>
        <p:spPr>
          <a:xfrm>
            <a:off x="822960" y="3200400"/>
            <a:ext cx="10545775" cy="731520"/>
          </a:xfrm>
          <a:prstGeom prst="rect">
            <a:avLst/>
          </a:prstGeom>
          <a:noFill/>
        </p:spPr>
        <p:txBody>
          <a:bodyPr wrap="square">
            <a:spAutoFit/>
          </a:bodyPr>
          <a:lstStyle/>
          <a:p>
            <a:pPr algn="l">
              <a:spcAft>
                <a:spcPts val="600"/>
              </a:spcAft>
            </a:pPr>
            <a:r>
              <a:rPr sz="1400" b="1" i="0">
                <a:solidFill>
                  <a:srgbClr val="0EA5E9"/>
                </a:solidFill>
                <a:latin typeface="Segoe UI"/>
              </a:rPr>
              <a:t>Excluded on purpose</a:t>
            </a:r>
          </a:p>
          <a:p>
            <a:pPr>
              <a:spcAft>
                <a:spcPts val="600"/>
              </a:spcAft>
            </a:pPr>
            <a:r>
              <a:rPr sz="1400" b="0" i="0">
                <a:solidFill>
                  <a:srgbClr val="334155"/>
                </a:solidFill>
                <a:latin typeface="Segoe UI"/>
              </a:rPr>
              <a:t>Addresses, ports and timestamps are kept as metadata but never used as model inputs, so models cannot memorise hosts. Destination port is excluded too: most DoS traffic in this dataset targets port 80, and a model leaning on that would not generalise to another network.</a:t>
            </a:r>
          </a:p>
        </p:txBody>
      </p:sp>
      <p:sp>
        <p:nvSpPr>
          <p:cNvPr id="9" name="TextBox 8"/>
          <p:cNvSpPr txBox="1"/>
          <p:nvPr/>
        </p:nvSpPr>
        <p:spPr>
          <a:xfrm>
            <a:off x="822960" y="4343400"/>
            <a:ext cx="10545775" cy="320040"/>
          </a:xfrm>
          <a:prstGeom prst="rect">
            <a:avLst/>
          </a:prstGeom>
          <a:noFill/>
        </p:spPr>
        <p:txBody>
          <a:bodyPr wrap="square">
            <a:spAutoFit/>
          </a:bodyPr>
          <a:lstStyle/>
          <a:p>
            <a:pPr algn="l">
              <a:spcAft>
                <a:spcPts val="600"/>
              </a:spcAft>
            </a:pPr>
            <a:r>
              <a:rPr sz="1600" b="1" i="0">
                <a:solidFill>
                  <a:srgbClr val="0F172A"/>
                </a:solidFill>
                <a:latin typeface="Segoe UI"/>
              </a:rPr>
              <a:t>Splitting: 70 / 15 / 15, stratified</a:t>
            </a:r>
          </a:p>
        </p:txBody>
      </p:sp>
      <p:graphicFrame>
        <p:nvGraphicFramePr>
          <p:cNvPr id="10" name="Table 9"/>
          <p:cNvGraphicFramePr>
            <a:graphicFrameLocks noGrp="1"/>
          </p:cNvGraphicFramePr>
          <p:nvPr/>
        </p:nvGraphicFramePr>
        <p:xfrm>
          <a:off x="822960" y="4754880"/>
          <a:ext cx="10545775" cy="1536192"/>
        </p:xfrm>
        <a:graphic>
          <a:graphicData uri="http://schemas.openxmlformats.org/drawingml/2006/table">
            <a:tbl>
              <a:tblPr firstRow="1" bandRow="1">
                <a:tableStyleId>{5C22544A-7EE6-4342-B048-85BDC9FD1C3A}</a:tableStyleId>
              </a:tblPr>
              <a:tblGrid>
                <a:gridCol w="1687324"/>
                <a:gridCol w="1687324"/>
                <a:gridCol w="4640141"/>
                <a:gridCol w="2530986"/>
              </a:tblGrid>
              <a:tr h="384048">
                <a:tc>
                  <a:txBody>
                    <a:bodyPr wrap="square"/>
                    <a:lstStyle/>
                    <a:p>
                      <a:pPr algn="l"/>
                      <a:r>
                        <a:rPr sz="1300" b="1">
                          <a:solidFill>
                            <a:srgbClr val="FFFFFF"/>
                          </a:solidFill>
                          <a:latin typeface="Segoe UI"/>
                        </a:rPr>
                        <a:t>Split</a:t>
                      </a:r>
                    </a:p>
                  </a:txBody>
                  <a:tcPr marL="73152" marR="73152" marT="18288" marB="18288" anchor="ctr">
                    <a:solidFill>
                      <a:srgbClr val="0F172A"/>
                    </a:solidFill>
                  </a:tcPr>
                </a:tc>
                <a:tc>
                  <a:txBody>
                    <a:bodyPr wrap="square"/>
                    <a:lstStyle/>
                    <a:p>
                      <a:pPr algn="ctr"/>
                      <a:r>
                        <a:rPr sz="1300" b="1">
                          <a:solidFill>
                            <a:srgbClr val="FFFFFF"/>
                          </a:solidFill>
                          <a:latin typeface="Segoe UI"/>
                        </a:rPr>
                        <a:t>Rows</a:t>
                      </a:r>
                    </a:p>
                  </a:txBody>
                  <a:tcPr marL="73152" marR="73152" marT="18288" marB="18288" anchor="ctr">
                    <a:solidFill>
                      <a:srgbClr val="0F172A"/>
                    </a:solidFill>
                  </a:tcPr>
                </a:tc>
                <a:tc>
                  <a:txBody>
                    <a:bodyPr wrap="square"/>
                    <a:lstStyle/>
                    <a:p>
                      <a:pPr algn="ctr"/>
                      <a:r>
                        <a:rPr sz="1300" b="1">
                          <a:solidFill>
                            <a:srgbClr val="FFFFFF"/>
                          </a:solidFill>
                          <a:latin typeface="Segoe UI"/>
                        </a:rPr>
                        <a:t>Class distribution</a:t>
                      </a:r>
                    </a:p>
                  </a:txBody>
                  <a:tcPr marL="73152" marR="73152" marT="18288" marB="18288" anchor="ctr">
                    <a:solidFill>
                      <a:srgbClr val="0F172A"/>
                    </a:solidFill>
                  </a:tcPr>
                </a:tc>
                <a:tc>
                  <a:txBody>
                    <a:bodyPr wrap="square"/>
                    <a:lstStyle/>
                    <a:p>
                      <a:pPr algn="ctr"/>
                      <a:r>
                        <a:rPr sz="1300" b="1">
                          <a:solidFill>
                            <a:srgbClr val="FFFFFF"/>
                          </a:solidFill>
                          <a:latin typeface="Segoe UI"/>
                        </a:rPr>
                        <a:t>Row cap</a:t>
                      </a:r>
                    </a:p>
                  </a:txBody>
                  <a:tcPr marL="73152" marR="73152" marT="18288" marB="18288" anchor="ctr">
                    <a:solidFill>
                      <a:srgbClr val="0F172A"/>
                    </a:solidFill>
                  </a:tcPr>
                </a:tc>
              </a:tr>
              <a:tr h="384048">
                <a:tc>
                  <a:txBody>
                    <a:bodyPr wrap="square"/>
                    <a:lstStyle/>
                    <a:p>
                      <a:pPr algn="l"/>
                      <a:r>
                        <a:rPr sz="1300" b="0">
                          <a:solidFill>
                            <a:srgbClr val="334155"/>
                          </a:solidFill>
                          <a:latin typeface="Segoe UI"/>
                        </a:rPr>
                        <a:t>Train</a:t>
                      </a:r>
                    </a:p>
                  </a:txBody>
                  <a:tcPr marL="73152" marR="73152" marT="18288" marB="18288" anchor="ctr">
                    <a:solidFill>
                      <a:srgbClr val="FFFFFF"/>
                    </a:solidFill>
                  </a:tcPr>
                </a:tc>
                <a:tc>
                  <a:txBody>
                    <a:bodyPr wrap="square"/>
                    <a:lstStyle/>
                    <a:p>
                      <a:pPr algn="ctr"/>
                      <a:r>
                        <a:rPr sz="1300" b="0">
                          <a:solidFill>
                            <a:srgbClr val="334155"/>
                          </a:solidFill>
                          <a:latin typeface="Segoe UI"/>
                        </a:rPr>
                        <a:t>635,280</a:t>
                      </a:r>
                    </a:p>
                  </a:txBody>
                  <a:tcPr marL="73152" marR="73152" marT="18288" marB="18288" anchor="ctr">
                    <a:solidFill>
                      <a:srgbClr val="FFFFFF"/>
                    </a:solidFill>
                  </a:tcPr>
                </a:tc>
                <a:tc>
                  <a:txBody>
                    <a:bodyPr wrap="square"/>
                    <a:lstStyle/>
                    <a:p>
                      <a:pPr algn="ctr"/>
                      <a:r>
                        <a:rPr sz="1300" b="0">
                          <a:solidFill>
                            <a:srgbClr val="334155"/>
                          </a:solidFill>
                          <a:latin typeface="Segoe UI"/>
                        </a:rPr>
                        <a:t>capped, so Benign is undersampled</a:t>
                      </a:r>
                    </a:p>
                  </a:txBody>
                  <a:tcPr marL="73152" marR="73152" marT="18288" marB="18288" anchor="ctr">
                    <a:solidFill>
                      <a:srgbClr val="FFFFFF"/>
                    </a:solidFill>
                  </a:tcPr>
                </a:tc>
                <a:tc>
                  <a:txBody>
                    <a:bodyPr wrap="square"/>
                    <a:lstStyle/>
                    <a:p>
                      <a:pPr algn="ctr"/>
                      <a:r>
                        <a:rPr sz="1300" b="0">
                          <a:solidFill>
                            <a:srgbClr val="334155"/>
                          </a:solidFill>
                          <a:latin typeface="Segoe UI"/>
                        </a:rPr>
                        <a:t>400,000 per class</a:t>
                      </a:r>
                    </a:p>
                  </a:txBody>
                  <a:tcPr marL="73152" marR="73152" marT="18288" marB="18288" anchor="ctr">
                    <a:solidFill>
                      <a:srgbClr val="FFFFFF"/>
                    </a:solidFill>
                  </a:tcPr>
                </a:tc>
              </a:tr>
              <a:tr h="384048">
                <a:tc>
                  <a:txBody>
                    <a:bodyPr wrap="square"/>
                    <a:lstStyle/>
                    <a:p>
                      <a:pPr algn="l"/>
                      <a:r>
                        <a:rPr sz="1300" b="0">
                          <a:solidFill>
                            <a:srgbClr val="334155"/>
                          </a:solidFill>
                          <a:latin typeface="Segoe UI"/>
                        </a:rPr>
                        <a:t>Validation</a:t>
                      </a:r>
                    </a:p>
                  </a:txBody>
                  <a:tcPr marL="73152" marR="73152" marT="18288" marB="18288" anchor="ctr">
                    <a:solidFill>
                      <a:srgbClr val="F1F5F9"/>
                    </a:solidFill>
                  </a:tcPr>
                </a:tc>
                <a:tc>
                  <a:txBody>
                    <a:bodyPr wrap="square"/>
                    <a:lstStyle/>
                    <a:p>
                      <a:pPr algn="ctr"/>
                      <a:r>
                        <a:rPr sz="1300" b="0">
                          <a:solidFill>
                            <a:srgbClr val="334155"/>
                          </a:solidFill>
                          <a:latin typeface="Segoe UI"/>
                        </a:rPr>
                        <a:t>329,392</a:t>
                      </a:r>
                    </a:p>
                  </a:txBody>
                  <a:tcPr marL="73152" marR="73152" marT="18288" marB="18288" anchor="ctr">
                    <a:solidFill>
                      <a:srgbClr val="F1F5F9"/>
                    </a:solidFill>
                  </a:tcPr>
                </a:tc>
                <a:tc>
                  <a:txBody>
                    <a:bodyPr wrap="square"/>
                    <a:lstStyle/>
                    <a:p>
                      <a:pPr algn="ctr"/>
                      <a:r>
                        <a:rPr sz="1300" b="0">
                          <a:solidFill>
                            <a:srgbClr val="334155"/>
                          </a:solidFill>
                          <a:latin typeface="Segoe UI"/>
                        </a:rPr>
                        <a:t>natural</a:t>
                      </a:r>
                    </a:p>
                  </a:txBody>
                  <a:tcPr marL="73152" marR="73152" marT="18288" marB="18288" anchor="ctr">
                    <a:solidFill>
                      <a:srgbClr val="F1F5F9"/>
                    </a:solidFill>
                  </a:tcPr>
                </a:tc>
                <a:tc>
                  <a:txBody>
                    <a:bodyPr wrap="square"/>
                    <a:lstStyle/>
                    <a:p>
                      <a:pPr algn="ctr"/>
                      <a:r>
                        <a:rPr sz="1300" b="0">
                          <a:solidFill>
                            <a:srgbClr val="334155"/>
                          </a:solidFill>
                          <a:latin typeface="Segoe UI"/>
                        </a:rPr>
                        <a:t>none</a:t>
                      </a:r>
                    </a:p>
                  </a:txBody>
                  <a:tcPr marL="73152" marR="73152" marT="18288" marB="18288" anchor="ctr">
                    <a:solidFill>
                      <a:srgbClr val="F1F5F9"/>
                    </a:solidFill>
                  </a:tcPr>
                </a:tc>
              </a:tr>
              <a:tr h="384048">
                <a:tc>
                  <a:txBody>
                    <a:bodyPr wrap="square"/>
                    <a:lstStyle/>
                    <a:p>
                      <a:pPr algn="l"/>
                      <a:r>
                        <a:rPr sz="1300" b="0">
                          <a:solidFill>
                            <a:srgbClr val="334155"/>
                          </a:solidFill>
                          <a:latin typeface="Segoe UI"/>
                        </a:rPr>
                        <a:t>Test</a:t>
                      </a:r>
                    </a:p>
                  </a:txBody>
                  <a:tcPr marL="73152" marR="73152" marT="18288" marB="18288" anchor="ctr">
                    <a:solidFill>
                      <a:srgbClr val="FFFFFF"/>
                    </a:solidFill>
                  </a:tcPr>
                </a:tc>
                <a:tc>
                  <a:txBody>
                    <a:bodyPr wrap="square"/>
                    <a:lstStyle/>
                    <a:p>
                      <a:pPr algn="ctr"/>
                      <a:r>
                        <a:rPr sz="1300" b="0">
                          <a:solidFill>
                            <a:srgbClr val="334155"/>
                          </a:solidFill>
                          <a:latin typeface="Segoe UI"/>
                        </a:rPr>
                        <a:t>329,392</a:t>
                      </a:r>
                    </a:p>
                  </a:txBody>
                  <a:tcPr marL="73152" marR="73152" marT="18288" marB="18288" anchor="ctr">
                    <a:solidFill>
                      <a:srgbClr val="FFFFFF"/>
                    </a:solidFill>
                  </a:tcPr>
                </a:tc>
                <a:tc>
                  <a:txBody>
                    <a:bodyPr wrap="square"/>
                    <a:lstStyle/>
                    <a:p>
                      <a:pPr algn="ctr"/>
                      <a:r>
                        <a:rPr sz="1300" b="0">
                          <a:solidFill>
                            <a:srgbClr val="334155"/>
                          </a:solidFill>
                          <a:latin typeface="Segoe UI"/>
                        </a:rPr>
                        <a:t>natural</a:t>
                      </a:r>
                    </a:p>
                  </a:txBody>
                  <a:tcPr marL="73152" marR="73152" marT="18288" marB="18288" anchor="ctr">
                    <a:solidFill>
                      <a:srgbClr val="FFFFFF"/>
                    </a:solidFill>
                  </a:tcPr>
                </a:tc>
                <a:tc>
                  <a:txBody>
                    <a:bodyPr wrap="square"/>
                    <a:lstStyle/>
                    <a:p>
                      <a:pPr algn="ctr"/>
                      <a:r>
                        <a:rPr sz="1300" b="0">
                          <a:solidFill>
                            <a:srgbClr val="334155"/>
                          </a:solidFill>
                          <a:latin typeface="Segoe UI"/>
                        </a:rPr>
                        <a:t>none</a:t>
                      </a:r>
                    </a:p>
                  </a:txBody>
                  <a:tcPr marL="73152" marR="73152" marT="18288" marB="18288" anchor="ctr">
                    <a:solidFill>
                      <a:srgbClr val="FFFFFF"/>
                    </a:solidFill>
                  </a:tcPr>
                </a:tc>
              </a:tr>
            </a:tbl>
          </a:graphicData>
        </a:graphic>
      </p:graphicFrame>
      <p:sp>
        <p:nvSpPr>
          <p:cNvPr id="11" name="TextBox 10"/>
          <p:cNvSpPr txBox="1"/>
          <p:nvPr/>
        </p:nvSpPr>
        <p:spPr>
          <a:xfrm>
            <a:off x="822960" y="6053328"/>
            <a:ext cx="10545775" cy="365760"/>
          </a:xfrm>
          <a:prstGeom prst="rect">
            <a:avLst/>
          </a:prstGeom>
          <a:noFill/>
        </p:spPr>
        <p:txBody>
          <a:bodyPr wrap="square">
            <a:spAutoFit/>
          </a:bodyPr>
          <a:lstStyle/>
          <a:p>
            <a:pPr algn="l">
              <a:spcAft>
                <a:spcPts val="600"/>
              </a:spcAft>
            </a:pPr>
            <a:r>
              <a:rPr sz="1300" b="0" i="1">
                <a:solidFill>
                  <a:srgbClr val="64748B"/>
                </a:solidFill>
                <a:latin typeface="Segoe UI"/>
              </a:rPr>
              <a:t>Validation and test keep the natural distribution and get no resampling, so the reported metrics reflect realistic traffic. Cross-split duplicate vectors: 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RESULTS</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Results: full feature set (59 features)</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12</a:t>
            </a:r>
          </a:p>
        </p:txBody>
      </p:sp>
      <p:sp>
        <p:nvSpPr>
          <p:cNvPr id="6" name="Rounded Rectangle 5"/>
          <p:cNvSpPr/>
          <p:nvPr/>
        </p:nvSpPr>
        <p:spPr>
          <a:xfrm>
            <a:off x="822960" y="169164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60" y="1819656"/>
            <a:ext cx="2512999" cy="502920"/>
          </a:xfrm>
          <a:prstGeom prst="rect">
            <a:avLst/>
          </a:prstGeom>
          <a:noFill/>
        </p:spPr>
        <p:txBody>
          <a:bodyPr wrap="square">
            <a:spAutoFit/>
          </a:bodyPr>
          <a:lstStyle/>
          <a:p>
            <a:pPr algn="ctr">
              <a:spcAft>
                <a:spcPts val="0"/>
              </a:spcAft>
            </a:pPr>
            <a:r>
              <a:rPr sz="2800" b="1" i="0">
                <a:solidFill>
                  <a:srgbClr val="0F172A"/>
                </a:solidFill>
                <a:latin typeface="Segoe UI"/>
              </a:rPr>
              <a:t>0.9987</a:t>
            </a:r>
          </a:p>
        </p:txBody>
      </p:sp>
      <p:sp>
        <p:nvSpPr>
          <p:cNvPr id="8" name="TextBox 7"/>
          <p:cNvSpPr txBox="1"/>
          <p:nvPr/>
        </p:nvSpPr>
        <p:spPr>
          <a:xfrm>
            <a:off x="822960" y="231343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Accuracy</a:t>
            </a:r>
          </a:p>
        </p:txBody>
      </p:sp>
      <p:sp>
        <p:nvSpPr>
          <p:cNvPr id="9" name="Rounded Rectangle 8"/>
          <p:cNvSpPr/>
          <p:nvPr/>
        </p:nvSpPr>
        <p:spPr>
          <a:xfrm>
            <a:off x="3500551" y="169164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500551" y="1819656"/>
            <a:ext cx="2512999" cy="502920"/>
          </a:xfrm>
          <a:prstGeom prst="rect">
            <a:avLst/>
          </a:prstGeom>
          <a:noFill/>
        </p:spPr>
        <p:txBody>
          <a:bodyPr wrap="square">
            <a:spAutoFit/>
          </a:bodyPr>
          <a:lstStyle/>
          <a:p>
            <a:pPr algn="ctr">
              <a:spcAft>
                <a:spcPts val="0"/>
              </a:spcAft>
            </a:pPr>
            <a:r>
              <a:rPr sz="2800" b="1" i="0">
                <a:solidFill>
                  <a:srgbClr val="0EA5E9"/>
                </a:solidFill>
                <a:latin typeface="Segoe UI"/>
              </a:rPr>
              <a:t>0.9570</a:t>
            </a:r>
          </a:p>
        </p:txBody>
      </p:sp>
      <p:sp>
        <p:nvSpPr>
          <p:cNvPr id="11" name="TextBox 10"/>
          <p:cNvSpPr txBox="1"/>
          <p:nvPr/>
        </p:nvSpPr>
        <p:spPr>
          <a:xfrm>
            <a:off x="3500551" y="231343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Macro F1</a:t>
            </a:r>
          </a:p>
        </p:txBody>
      </p:sp>
      <p:sp>
        <p:nvSpPr>
          <p:cNvPr id="12" name="Rounded Rectangle 11"/>
          <p:cNvSpPr/>
          <p:nvPr/>
        </p:nvSpPr>
        <p:spPr>
          <a:xfrm>
            <a:off x="6178142" y="169164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78142" y="1819656"/>
            <a:ext cx="2512999" cy="502920"/>
          </a:xfrm>
          <a:prstGeom prst="rect">
            <a:avLst/>
          </a:prstGeom>
          <a:noFill/>
        </p:spPr>
        <p:txBody>
          <a:bodyPr wrap="square">
            <a:spAutoFit/>
          </a:bodyPr>
          <a:lstStyle/>
          <a:p>
            <a:pPr algn="ctr">
              <a:spcAft>
                <a:spcPts val="0"/>
              </a:spcAft>
            </a:pPr>
            <a:r>
              <a:rPr sz="2800" b="1" i="0">
                <a:solidFill>
                  <a:srgbClr val="15803D"/>
                </a:solidFill>
                <a:latin typeface="Segoe UI"/>
              </a:rPr>
              <a:t>99.80%</a:t>
            </a:r>
          </a:p>
        </p:txBody>
      </p:sp>
      <p:sp>
        <p:nvSpPr>
          <p:cNvPr id="14" name="TextBox 13"/>
          <p:cNvSpPr txBox="1"/>
          <p:nvPr/>
        </p:nvSpPr>
        <p:spPr>
          <a:xfrm>
            <a:off x="6178142" y="231343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Detection rate</a:t>
            </a:r>
          </a:p>
        </p:txBody>
      </p:sp>
      <p:sp>
        <p:nvSpPr>
          <p:cNvPr id="15" name="Rounded Rectangle 14"/>
          <p:cNvSpPr/>
          <p:nvPr/>
        </p:nvSpPr>
        <p:spPr>
          <a:xfrm>
            <a:off x="8855733" y="169164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855733" y="1819656"/>
            <a:ext cx="2512999" cy="502920"/>
          </a:xfrm>
          <a:prstGeom prst="rect">
            <a:avLst/>
          </a:prstGeom>
          <a:noFill/>
        </p:spPr>
        <p:txBody>
          <a:bodyPr wrap="square">
            <a:spAutoFit/>
          </a:bodyPr>
          <a:lstStyle/>
          <a:p>
            <a:pPr algn="ctr">
              <a:spcAft>
                <a:spcPts val="0"/>
              </a:spcAft>
            </a:pPr>
            <a:r>
              <a:rPr sz="2800" b="1" i="0">
                <a:solidFill>
                  <a:srgbClr val="15803D"/>
                </a:solidFill>
                <a:latin typeface="Segoe UI"/>
              </a:rPr>
              <a:t>0.11%</a:t>
            </a:r>
          </a:p>
        </p:txBody>
      </p:sp>
      <p:sp>
        <p:nvSpPr>
          <p:cNvPr id="17" name="TextBox 16"/>
          <p:cNvSpPr txBox="1"/>
          <p:nvPr/>
        </p:nvSpPr>
        <p:spPr>
          <a:xfrm>
            <a:off x="8855733" y="231343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False-positive rate</a:t>
            </a:r>
          </a:p>
        </p:txBody>
      </p:sp>
      <p:graphicFrame>
        <p:nvGraphicFramePr>
          <p:cNvPr id="18" name="Table 17"/>
          <p:cNvGraphicFramePr>
            <a:graphicFrameLocks noGrp="1"/>
          </p:cNvGraphicFramePr>
          <p:nvPr/>
        </p:nvGraphicFramePr>
        <p:xfrm>
          <a:off x="822960" y="2880360"/>
          <a:ext cx="4998565" cy="1152144"/>
        </p:xfrm>
        <a:graphic>
          <a:graphicData uri="http://schemas.openxmlformats.org/drawingml/2006/table">
            <a:tbl>
              <a:tblPr firstRow="1" bandRow="1">
                <a:tableStyleId>{5C22544A-7EE6-4342-B048-85BDC9FD1C3A}</a:tableStyleId>
              </a:tblPr>
              <a:tblGrid>
                <a:gridCol w="1699512"/>
                <a:gridCol w="899742"/>
                <a:gridCol w="899742"/>
                <a:gridCol w="799770"/>
                <a:gridCol w="699799"/>
              </a:tblGrid>
              <a:tr h="384048">
                <a:tc>
                  <a:txBody>
                    <a:bodyPr wrap="square"/>
                    <a:lstStyle/>
                    <a:p>
                      <a:pPr algn="l"/>
                      <a:r>
                        <a:rPr sz="1150" b="1">
                          <a:solidFill>
                            <a:srgbClr val="FFFFFF"/>
                          </a:solidFill>
                          <a:latin typeface="Segoe UI"/>
                        </a:rPr>
                        <a:t>Model</a:t>
                      </a:r>
                    </a:p>
                  </a:txBody>
                  <a:tcPr marL="73152" marR="73152" marT="18288" marB="18288" anchor="ctr">
                    <a:solidFill>
                      <a:srgbClr val="0F172A"/>
                    </a:solidFill>
                  </a:tcPr>
                </a:tc>
                <a:tc>
                  <a:txBody>
                    <a:bodyPr wrap="square"/>
                    <a:lstStyle/>
                    <a:p>
                      <a:pPr algn="ctr"/>
                      <a:r>
                        <a:rPr sz="1150" b="1">
                          <a:solidFill>
                            <a:srgbClr val="FFFFFF"/>
                          </a:solidFill>
                          <a:latin typeface="Segoe UI"/>
                        </a:rPr>
                        <a:t>Accuracy</a:t>
                      </a:r>
                    </a:p>
                  </a:txBody>
                  <a:tcPr marL="73152" marR="73152" marT="18288" marB="18288" anchor="ctr">
                    <a:solidFill>
                      <a:srgbClr val="0F172A"/>
                    </a:solidFill>
                  </a:tcPr>
                </a:tc>
                <a:tc>
                  <a:txBody>
                    <a:bodyPr wrap="square"/>
                    <a:lstStyle/>
                    <a:p>
                      <a:pPr algn="ctr"/>
                      <a:r>
                        <a:rPr sz="1150" b="1">
                          <a:solidFill>
                            <a:srgbClr val="FFFFFF"/>
                          </a:solidFill>
                          <a:latin typeface="Segoe UI"/>
                        </a:rPr>
                        <a:t>Macro F1</a:t>
                      </a:r>
                    </a:p>
                  </a:txBody>
                  <a:tcPr marL="73152" marR="73152" marT="18288" marB="18288" anchor="ctr">
                    <a:solidFill>
                      <a:srgbClr val="0F172A"/>
                    </a:solidFill>
                  </a:tcPr>
                </a:tc>
                <a:tc>
                  <a:txBody>
                    <a:bodyPr wrap="square"/>
                    <a:lstStyle/>
                    <a:p>
                      <a:pPr algn="ctr"/>
                      <a:r>
                        <a:rPr sz="1150" b="1">
                          <a:solidFill>
                            <a:srgbClr val="FFFFFF"/>
                          </a:solidFill>
                          <a:latin typeface="Segoe UI"/>
                        </a:rPr>
                        <a:t>FP rate</a:t>
                      </a:r>
                    </a:p>
                  </a:txBody>
                  <a:tcPr marL="73152" marR="73152" marT="18288" marB="18288" anchor="ctr">
                    <a:solidFill>
                      <a:srgbClr val="0F172A"/>
                    </a:solidFill>
                  </a:tcPr>
                </a:tc>
                <a:tc>
                  <a:txBody>
                    <a:bodyPr wrap="square"/>
                    <a:lstStyle/>
                    <a:p>
                      <a:pPr algn="ctr"/>
                      <a:r>
                        <a:rPr sz="1150" b="1">
                          <a:solidFill>
                            <a:srgbClr val="FFFFFF"/>
                          </a:solidFill>
                          <a:latin typeface="Segoe UI"/>
                        </a:rPr>
                        <a:t>us/flow</a:t>
                      </a:r>
                    </a:p>
                  </a:txBody>
                  <a:tcPr marL="73152" marR="73152" marT="18288" marB="18288" anchor="ctr">
                    <a:solidFill>
                      <a:srgbClr val="0F172A"/>
                    </a:solidFill>
                  </a:tcPr>
                </a:tc>
              </a:tr>
              <a:tr h="384048">
                <a:tc>
                  <a:txBody>
                    <a:bodyPr wrap="square"/>
                    <a:lstStyle/>
                    <a:p>
                      <a:pPr algn="l"/>
                      <a:r>
                        <a:rPr sz="1150" b="1">
                          <a:solidFill>
                            <a:srgbClr val="0F172A"/>
                          </a:solidFill>
                          <a:latin typeface="Segoe UI"/>
                        </a:rPr>
                        <a:t>Random Forest  (selected)</a:t>
                      </a:r>
                    </a:p>
                  </a:txBody>
                  <a:tcPr marL="73152" marR="73152" marT="18288" marB="18288" anchor="ctr">
                    <a:solidFill>
                      <a:srgbClr val="FFFFFF"/>
                    </a:solidFill>
                  </a:tcPr>
                </a:tc>
                <a:tc>
                  <a:txBody>
                    <a:bodyPr wrap="square"/>
                    <a:lstStyle/>
                    <a:p>
                      <a:pPr algn="ctr"/>
                      <a:r>
                        <a:rPr sz="1150" b="1">
                          <a:solidFill>
                            <a:srgbClr val="0F172A"/>
                          </a:solidFill>
                          <a:latin typeface="Segoe UI"/>
                        </a:rPr>
                        <a:t>0.9987</a:t>
                      </a:r>
                    </a:p>
                  </a:txBody>
                  <a:tcPr marL="73152" marR="73152" marT="18288" marB="18288" anchor="ctr">
                    <a:solidFill>
                      <a:srgbClr val="FFFFFF"/>
                    </a:solidFill>
                  </a:tcPr>
                </a:tc>
                <a:tc>
                  <a:txBody>
                    <a:bodyPr wrap="square"/>
                    <a:lstStyle/>
                    <a:p>
                      <a:pPr algn="ctr"/>
                      <a:r>
                        <a:rPr sz="1150" b="1">
                          <a:solidFill>
                            <a:srgbClr val="0F172A"/>
                          </a:solidFill>
                          <a:latin typeface="Segoe UI"/>
                        </a:rPr>
                        <a:t>0.9570</a:t>
                      </a:r>
                    </a:p>
                  </a:txBody>
                  <a:tcPr marL="73152" marR="73152" marT="18288" marB="18288" anchor="ctr">
                    <a:solidFill>
                      <a:srgbClr val="FFFFFF"/>
                    </a:solidFill>
                  </a:tcPr>
                </a:tc>
                <a:tc>
                  <a:txBody>
                    <a:bodyPr wrap="square"/>
                    <a:lstStyle/>
                    <a:p>
                      <a:pPr algn="ctr"/>
                      <a:r>
                        <a:rPr sz="1150" b="1">
                          <a:solidFill>
                            <a:srgbClr val="0F172A"/>
                          </a:solidFill>
                          <a:latin typeface="Segoe UI"/>
                        </a:rPr>
                        <a:t>0.00112</a:t>
                      </a:r>
                    </a:p>
                  </a:txBody>
                  <a:tcPr marL="73152" marR="73152" marT="18288" marB="18288" anchor="ctr">
                    <a:solidFill>
                      <a:srgbClr val="FFFFFF"/>
                    </a:solidFill>
                  </a:tcPr>
                </a:tc>
                <a:tc>
                  <a:txBody>
                    <a:bodyPr wrap="square"/>
                    <a:lstStyle/>
                    <a:p>
                      <a:pPr algn="ctr"/>
                      <a:r>
                        <a:rPr sz="1150" b="1">
                          <a:solidFill>
                            <a:srgbClr val="0F172A"/>
                          </a:solidFill>
                          <a:latin typeface="Segoe UI"/>
                        </a:rPr>
                        <a:t>2.51</a:t>
                      </a:r>
                    </a:p>
                  </a:txBody>
                  <a:tcPr marL="73152" marR="73152" marT="18288" marB="18288" anchor="ctr">
                    <a:solidFill>
                      <a:srgbClr val="FFFFFF"/>
                    </a:solidFill>
                  </a:tcPr>
                </a:tc>
              </a:tr>
              <a:tr h="384048">
                <a:tc>
                  <a:txBody>
                    <a:bodyPr wrap="square"/>
                    <a:lstStyle/>
                    <a:p>
                      <a:pPr algn="l"/>
                      <a:r>
                        <a:rPr sz="1150" b="0">
                          <a:solidFill>
                            <a:srgbClr val="334155"/>
                          </a:solidFill>
                          <a:latin typeface="Segoe UI"/>
                        </a:rPr>
                        <a:t>XGBoost</a:t>
                      </a:r>
                    </a:p>
                  </a:txBody>
                  <a:tcPr marL="73152" marR="73152" marT="18288" marB="18288" anchor="ctr">
                    <a:solidFill>
                      <a:srgbClr val="F1F5F9"/>
                    </a:solidFill>
                  </a:tcPr>
                </a:tc>
                <a:tc>
                  <a:txBody>
                    <a:bodyPr wrap="square"/>
                    <a:lstStyle/>
                    <a:p>
                      <a:pPr algn="ctr"/>
                      <a:r>
                        <a:rPr sz="1150" b="0">
                          <a:solidFill>
                            <a:srgbClr val="334155"/>
                          </a:solidFill>
                          <a:latin typeface="Segoe UI"/>
                        </a:rPr>
                        <a:t>0.9990</a:t>
                      </a:r>
                    </a:p>
                  </a:txBody>
                  <a:tcPr marL="73152" marR="73152" marT="18288" marB="18288" anchor="ctr">
                    <a:solidFill>
                      <a:srgbClr val="F1F5F9"/>
                    </a:solidFill>
                  </a:tcPr>
                </a:tc>
                <a:tc>
                  <a:txBody>
                    <a:bodyPr wrap="square"/>
                    <a:lstStyle/>
                    <a:p>
                      <a:pPr algn="ctr"/>
                      <a:r>
                        <a:rPr sz="1150" b="0">
                          <a:solidFill>
                            <a:srgbClr val="334155"/>
                          </a:solidFill>
                          <a:latin typeface="Segoe UI"/>
                        </a:rPr>
                        <a:t>0.9561</a:t>
                      </a:r>
                    </a:p>
                  </a:txBody>
                  <a:tcPr marL="73152" marR="73152" marT="18288" marB="18288" anchor="ctr">
                    <a:solidFill>
                      <a:srgbClr val="F1F5F9"/>
                    </a:solidFill>
                  </a:tcPr>
                </a:tc>
                <a:tc>
                  <a:txBody>
                    <a:bodyPr wrap="square"/>
                    <a:lstStyle/>
                    <a:p>
                      <a:pPr algn="ctr"/>
                      <a:r>
                        <a:rPr sz="1150" b="0">
                          <a:solidFill>
                            <a:srgbClr val="334155"/>
                          </a:solidFill>
                          <a:latin typeface="Segoe UI"/>
                        </a:rPr>
                        <a:t>0.00102</a:t>
                      </a:r>
                    </a:p>
                  </a:txBody>
                  <a:tcPr marL="73152" marR="73152" marT="18288" marB="18288" anchor="ctr">
                    <a:solidFill>
                      <a:srgbClr val="F1F5F9"/>
                    </a:solidFill>
                  </a:tcPr>
                </a:tc>
                <a:tc>
                  <a:txBody>
                    <a:bodyPr wrap="square"/>
                    <a:lstStyle/>
                    <a:p>
                      <a:pPr algn="ctr"/>
                      <a:r>
                        <a:rPr sz="1150" b="0">
                          <a:solidFill>
                            <a:srgbClr val="334155"/>
                          </a:solidFill>
                          <a:latin typeface="Segoe UI"/>
                        </a:rPr>
                        <a:t>5.20</a:t>
                      </a:r>
                    </a:p>
                  </a:txBody>
                  <a:tcPr marL="73152" marR="73152" marT="18288" marB="18288" anchor="ctr">
                    <a:solidFill>
                      <a:srgbClr val="F1F5F9"/>
                    </a:solidFill>
                  </a:tcPr>
                </a:tc>
              </a:tr>
            </a:tbl>
          </a:graphicData>
        </a:graphic>
      </p:graphicFrame>
      <p:sp>
        <p:nvSpPr>
          <p:cNvPr id="19" name="TextBox 18"/>
          <p:cNvSpPr txBox="1"/>
          <p:nvPr/>
        </p:nvSpPr>
        <p:spPr>
          <a:xfrm>
            <a:off x="822960" y="4251960"/>
            <a:ext cx="4998567" cy="2011680"/>
          </a:xfrm>
          <a:prstGeom prst="rect">
            <a:avLst/>
          </a:prstGeom>
          <a:noFill/>
        </p:spPr>
        <p:txBody>
          <a:bodyPr wrap="square">
            <a:spAutoFit/>
          </a:bodyPr>
          <a:lstStyle/>
          <a:p>
            <a:pPr algn="l">
              <a:spcAft>
                <a:spcPts val="600"/>
              </a:spcAft>
            </a:pPr>
            <a:r>
              <a:rPr sz="1400" b="1" i="0">
                <a:solidFill>
                  <a:srgbClr val="0EA5E9"/>
                </a:solidFill>
                <a:latin typeface="Segoe UI"/>
              </a:rPr>
              <a:t>Reading the numbers</a:t>
            </a:r>
          </a:p>
          <a:p>
            <a:pPr>
              <a:spcAft>
                <a:spcPts val="600"/>
              </a:spcAft>
            </a:pPr>
            <a:r>
              <a:rPr sz="1400" b="0" i="0">
                <a:solidFill>
                  <a:srgbClr val="334155"/>
                </a:solidFill>
                <a:latin typeface="Segoe UI"/>
              </a:rPr>
              <a:t>50,314 of 50,417 attack flows flagged; 313 of 278,975 benign flows wrongly flagged.</a:t>
            </a:r>
          </a:p>
          <a:p>
            <a:pPr>
              <a:spcAft>
                <a:spcPts val="600"/>
              </a:spcAft>
            </a:pPr>
            <a:r>
              <a:rPr sz="1400" b="0" i="0">
                <a:solidFill>
                  <a:srgbClr val="334155"/>
                </a:solidFill>
                <a:latin typeface="Segoe UI"/>
              </a:rPr>
              <a:t>Per-class F1 exceeds 0.97 for every class except Bot (0.7326 on 209 test flows).</a:t>
            </a:r>
          </a:p>
          <a:p>
            <a:pPr>
              <a:spcAft>
                <a:spcPts val="600"/>
              </a:spcAft>
            </a:pPr>
            <a:r>
              <a:rPr sz="1300" b="0" i="1">
                <a:solidFill>
                  <a:srgbClr val="64748B"/>
                </a:solidFill>
                <a:latin typeface="Segoe UI"/>
              </a:rPr>
              <a:t>The two classifiers are close enough that the choice barely matters; Random Forest was selected on validation macro F1 and is twice as fast at inference.</a:t>
            </a:r>
          </a:p>
        </p:txBody>
      </p:sp>
      <p:pic>
        <p:nvPicPr>
          <p:cNvPr id="20" name="Picture 19" descr="per_class_f1_full.png"/>
          <p:cNvPicPr>
            <a:picLocks noChangeAspect="1"/>
          </p:cNvPicPr>
          <p:nvPr/>
        </p:nvPicPr>
        <p:blipFill>
          <a:blip r:embed="rId2"/>
          <a:stretch>
            <a:fillRect/>
          </a:stretch>
        </p:blipFill>
        <p:spPr>
          <a:xfrm>
            <a:off x="6498210" y="2834640"/>
            <a:ext cx="4742481" cy="32918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RESULTS</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Results: lite feature set (6 live features)</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13</a:t>
            </a:r>
          </a:p>
        </p:txBody>
      </p:sp>
      <p:sp>
        <p:nvSpPr>
          <p:cNvPr id="6" name="Rounded Rectangle 5"/>
          <p:cNvSpPr/>
          <p:nvPr/>
        </p:nvSpPr>
        <p:spPr>
          <a:xfrm>
            <a:off x="822960" y="169164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60" y="1819656"/>
            <a:ext cx="2512999" cy="502920"/>
          </a:xfrm>
          <a:prstGeom prst="rect">
            <a:avLst/>
          </a:prstGeom>
          <a:noFill/>
        </p:spPr>
        <p:txBody>
          <a:bodyPr wrap="square">
            <a:spAutoFit/>
          </a:bodyPr>
          <a:lstStyle/>
          <a:p>
            <a:pPr algn="ctr">
              <a:spcAft>
                <a:spcPts val="0"/>
              </a:spcAft>
            </a:pPr>
            <a:r>
              <a:rPr sz="2800" b="1" i="0">
                <a:solidFill>
                  <a:srgbClr val="0EA5E9"/>
                </a:solidFill>
                <a:latin typeface="Segoe UI"/>
              </a:rPr>
              <a:t>0.8400</a:t>
            </a:r>
          </a:p>
        </p:txBody>
      </p:sp>
      <p:sp>
        <p:nvSpPr>
          <p:cNvPr id="8" name="TextBox 7"/>
          <p:cNvSpPr txBox="1"/>
          <p:nvPr/>
        </p:nvSpPr>
        <p:spPr>
          <a:xfrm>
            <a:off x="822960" y="231343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Macro F1 (vs 0.9570 full)</a:t>
            </a:r>
          </a:p>
        </p:txBody>
      </p:sp>
      <p:sp>
        <p:nvSpPr>
          <p:cNvPr id="9" name="Rounded Rectangle 8"/>
          <p:cNvSpPr/>
          <p:nvPr/>
        </p:nvSpPr>
        <p:spPr>
          <a:xfrm>
            <a:off x="3500551" y="169164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500551" y="1819656"/>
            <a:ext cx="2512999" cy="502920"/>
          </a:xfrm>
          <a:prstGeom prst="rect">
            <a:avLst/>
          </a:prstGeom>
          <a:noFill/>
        </p:spPr>
        <p:txBody>
          <a:bodyPr wrap="square">
            <a:spAutoFit/>
          </a:bodyPr>
          <a:lstStyle/>
          <a:p>
            <a:pPr algn="ctr">
              <a:spcAft>
                <a:spcPts val="0"/>
              </a:spcAft>
            </a:pPr>
            <a:r>
              <a:rPr sz="2800" b="1" i="0">
                <a:solidFill>
                  <a:srgbClr val="15803D"/>
                </a:solidFill>
                <a:latin typeface="Segoe UI"/>
              </a:rPr>
              <a:t>99.76%</a:t>
            </a:r>
          </a:p>
        </p:txBody>
      </p:sp>
      <p:sp>
        <p:nvSpPr>
          <p:cNvPr id="11" name="TextBox 10"/>
          <p:cNvSpPr txBox="1"/>
          <p:nvPr/>
        </p:nvSpPr>
        <p:spPr>
          <a:xfrm>
            <a:off x="3500551" y="231343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Detection rate</a:t>
            </a:r>
          </a:p>
        </p:txBody>
      </p:sp>
      <p:sp>
        <p:nvSpPr>
          <p:cNvPr id="12" name="Rounded Rectangle 11"/>
          <p:cNvSpPr/>
          <p:nvPr/>
        </p:nvSpPr>
        <p:spPr>
          <a:xfrm>
            <a:off x="6178142" y="169164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78142" y="1819656"/>
            <a:ext cx="2512999" cy="502920"/>
          </a:xfrm>
          <a:prstGeom prst="rect">
            <a:avLst/>
          </a:prstGeom>
          <a:noFill/>
        </p:spPr>
        <p:txBody>
          <a:bodyPr wrap="square">
            <a:spAutoFit/>
          </a:bodyPr>
          <a:lstStyle/>
          <a:p>
            <a:pPr algn="ctr">
              <a:spcAft>
                <a:spcPts val="0"/>
              </a:spcAft>
            </a:pPr>
            <a:r>
              <a:rPr sz="2800" b="1" i="0">
                <a:solidFill>
                  <a:srgbClr val="0F172A"/>
                </a:solidFill>
                <a:latin typeface="Segoe UI"/>
              </a:rPr>
              <a:t>0.97%</a:t>
            </a:r>
          </a:p>
        </p:txBody>
      </p:sp>
      <p:sp>
        <p:nvSpPr>
          <p:cNvPr id="14" name="TextBox 13"/>
          <p:cNvSpPr txBox="1"/>
          <p:nvPr/>
        </p:nvSpPr>
        <p:spPr>
          <a:xfrm>
            <a:off x="6178142" y="231343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False-positive rate</a:t>
            </a:r>
          </a:p>
        </p:txBody>
      </p:sp>
      <p:sp>
        <p:nvSpPr>
          <p:cNvPr id="15" name="Rounded Rectangle 14"/>
          <p:cNvSpPr/>
          <p:nvPr/>
        </p:nvSpPr>
        <p:spPr>
          <a:xfrm>
            <a:off x="8855733" y="1691640"/>
            <a:ext cx="2512999" cy="10515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855733" y="1819656"/>
            <a:ext cx="2512999" cy="502920"/>
          </a:xfrm>
          <a:prstGeom prst="rect">
            <a:avLst/>
          </a:prstGeom>
          <a:noFill/>
        </p:spPr>
        <p:txBody>
          <a:bodyPr wrap="square">
            <a:spAutoFit/>
          </a:bodyPr>
          <a:lstStyle/>
          <a:p>
            <a:pPr algn="ctr">
              <a:spcAft>
                <a:spcPts val="0"/>
              </a:spcAft>
            </a:pPr>
            <a:r>
              <a:rPr sz="2800" b="1" i="0">
                <a:solidFill>
                  <a:srgbClr val="B91C1C"/>
                </a:solidFill>
                <a:latin typeface="Segoe UI"/>
              </a:rPr>
              <a:t>-0.1170</a:t>
            </a:r>
          </a:p>
        </p:txBody>
      </p:sp>
      <p:sp>
        <p:nvSpPr>
          <p:cNvPr id="17" name="TextBox 16"/>
          <p:cNvSpPr txBox="1"/>
          <p:nvPr/>
        </p:nvSpPr>
        <p:spPr>
          <a:xfrm>
            <a:off x="8855733" y="231343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Macro F1 given up</a:t>
            </a:r>
          </a:p>
        </p:txBody>
      </p:sp>
      <p:graphicFrame>
        <p:nvGraphicFramePr>
          <p:cNvPr id="18" name="Table 17"/>
          <p:cNvGraphicFramePr>
            <a:graphicFrameLocks noGrp="1"/>
          </p:cNvGraphicFramePr>
          <p:nvPr/>
        </p:nvGraphicFramePr>
        <p:xfrm>
          <a:off x="822960" y="3017520"/>
          <a:ext cx="5090005" cy="2706624"/>
        </p:xfrm>
        <a:graphic>
          <a:graphicData uri="http://schemas.openxmlformats.org/drawingml/2006/table">
            <a:tbl>
              <a:tblPr firstRow="1" bandRow="1">
                <a:tableStyleId>{5C22544A-7EE6-4342-B048-85BDC9FD1C3A}</a:tableStyleId>
              </a:tblPr>
              <a:tblGrid>
                <a:gridCol w="1730602"/>
                <a:gridCol w="1119801"/>
                <a:gridCol w="1119801"/>
                <a:gridCol w="1119801"/>
              </a:tblGrid>
              <a:tr h="338328">
                <a:tc>
                  <a:txBody>
                    <a:bodyPr wrap="square"/>
                    <a:lstStyle/>
                    <a:p>
                      <a:pPr algn="l"/>
                      <a:r>
                        <a:rPr sz="1300" b="1">
                          <a:solidFill>
                            <a:srgbClr val="FFFFFF"/>
                          </a:solidFill>
                          <a:latin typeface="Segoe UI"/>
                        </a:rPr>
                        <a:t>Class</a:t>
                      </a:r>
                    </a:p>
                  </a:txBody>
                  <a:tcPr marL="73152" marR="73152" marT="18288" marB="18288" anchor="ctr">
                    <a:solidFill>
                      <a:srgbClr val="0F172A"/>
                    </a:solidFill>
                  </a:tcPr>
                </a:tc>
                <a:tc>
                  <a:txBody>
                    <a:bodyPr wrap="square"/>
                    <a:lstStyle/>
                    <a:p>
                      <a:pPr algn="ctr"/>
                      <a:r>
                        <a:rPr sz="1300" b="1">
                          <a:solidFill>
                            <a:srgbClr val="FFFFFF"/>
                          </a:solidFill>
                          <a:latin typeface="Segoe UI"/>
                        </a:rPr>
                        <a:t>Full F1</a:t>
                      </a:r>
                    </a:p>
                  </a:txBody>
                  <a:tcPr marL="73152" marR="73152" marT="18288" marB="18288" anchor="ctr">
                    <a:solidFill>
                      <a:srgbClr val="0F172A"/>
                    </a:solidFill>
                  </a:tcPr>
                </a:tc>
                <a:tc>
                  <a:txBody>
                    <a:bodyPr wrap="square"/>
                    <a:lstStyle/>
                    <a:p>
                      <a:pPr algn="ctr"/>
                      <a:r>
                        <a:rPr sz="1300" b="1">
                          <a:solidFill>
                            <a:srgbClr val="FFFFFF"/>
                          </a:solidFill>
                          <a:latin typeface="Segoe UI"/>
                        </a:rPr>
                        <a:t>Lite F1</a:t>
                      </a:r>
                    </a:p>
                  </a:txBody>
                  <a:tcPr marL="73152" marR="73152" marT="18288" marB="18288" anchor="ctr">
                    <a:solidFill>
                      <a:srgbClr val="0F172A"/>
                    </a:solidFill>
                  </a:tcPr>
                </a:tc>
                <a:tc>
                  <a:txBody>
                    <a:bodyPr wrap="square"/>
                    <a:lstStyle/>
                    <a:p>
                      <a:pPr algn="ctr"/>
                      <a:r>
                        <a:rPr sz="1300" b="1">
                          <a:solidFill>
                            <a:srgbClr val="FFFFFF"/>
                          </a:solidFill>
                          <a:latin typeface="Segoe UI"/>
                        </a:rPr>
                        <a:t>Change</a:t>
                      </a:r>
                    </a:p>
                  </a:txBody>
                  <a:tcPr marL="73152" marR="73152" marT="18288" marB="18288" anchor="ctr">
                    <a:solidFill>
                      <a:srgbClr val="0F172A"/>
                    </a:solidFill>
                  </a:tcPr>
                </a:tc>
              </a:tr>
              <a:tr h="338328">
                <a:tc>
                  <a:txBody>
                    <a:bodyPr wrap="square"/>
                    <a:lstStyle/>
                    <a:p>
                      <a:pPr algn="l"/>
                      <a:r>
                        <a:rPr sz="1200" b="0">
                          <a:solidFill>
                            <a:srgbClr val="334155"/>
                          </a:solidFill>
                          <a:latin typeface="Segoe UI"/>
                        </a:rPr>
                        <a:t>DDoS</a:t>
                      </a:r>
                    </a:p>
                  </a:txBody>
                  <a:tcPr marL="73152" marR="73152" marT="18288" marB="18288" anchor="ctr">
                    <a:solidFill>
                      <a:srgbClr val="FFFFFF"/>
                    </a:solidFill>
                  </a:tcPr>
                </a:tc>
                <a:tc>
                  <a:txBody>
                    <a:bodyPr wrap="square"/>
                    <a:lstStyle/>
                    <a:p>
                      <a:pPr algn="ctr"/>
                      <a:r>
                        <a:rPr sz="1200" b="0">
                          <a:solidFill>
                            <a:srgbClr val="334155"/>
                          </a:solidFill>
                          <a:latin typeface="Segoe UI"/>
                        </a:rPr>
                        <a:t>0.9991</a:t>
                      </a:r>
                    </a:p>
                  </a:txBody>
                  <a:tcPr marL="73152" marR="73152" marT="18288" marB="18288" anchor="ctr">
                    <a:solidFill>
                      <a:srgbClr val="FFFFFF"/>
                    </a:solidFill>
                  </a:tcPr>
                </a:tc>
                <a:tc>
                  <a:txBody>
                    <a:bodyPr wrap="square"/>
                    <a:lstStyle/>
                    <a:p>
                      <a:pPr algn="ctr"/>
                      <a:r>
                        <a:rPr sz="1200" b="0">
                          <a:solidFill>
                            <a:srgbClr val="334155"/>
                          </a:solidFill>
                          <a:latin typeface="Segoe UI"/>
                        </a:rPr>
                        <a:t>0.9976</a:t>
                      </a:r>
                    </a:p>
                  </a:txBody>
                  <a:tcPr marL="73152" marR="73152" marT="18288" marB="18288" anchor="ctr">
                    <a:solidFill>
                      <a:srgbClr val="FFFFFF"/>
                    </a:solidFill>
                  </a:tcPr>
                </a:tc>
                <a:tc>
                  <a:txBody>
                    <a:bodyPr wrap="square"/>
                    <a:lstStyle/>
                    <a:p>
                      <a:pPr algn="ctr"/>
                      <a:r>
                        <a:rPr sz="1200" b="0">
                          <a:solidFill>
                            <a:srgbClr val="334155"/>
                          </a:solidFill>
                          <a:latin typeface="Segoe UI"/>
                        </a:rPr>
                        <a:t>-0.0016</a:t>
                      </a:r>
                    </a:p>
                  </a:txBody>
                  <a:tcPr marL="73152" marR="73152" marT="18288" marB="18288" anchor="ctr">
                    <a:solidFill>
                      <a:srgbClr val="FFFFFF"/>
                    </a:solidFill>
                  </a:tcPr>
                </a:tc>
              </a:tr>
              <a:tr h="338328">
                <a:tc>
                  <a:txBody>
                    <a:bodyPr wrap="square"/>
                    <a:lstStyle/>
                    <a:p>
                      <a:pPr algn="l"/>
                      <a:r>
                        <a:rPr sz="1200" b="0">
                          <a:solidFill>
                            <a:srgbClr val="334155"/>
                          </a:solidFill>
                          <a:latin typeface="Segoe UI"/>
                        </a:rPr>
                        <a:t>DoS</a:t>
                      </a:r>
                    </a:p>
                  </a:txBody>
                  <a:tcPr marL="73152" marR="73152" marT="18288" marB="18288" anchor="ctr">
                    <a:solidFill>
                      <a:srgbClr val="F1F5F9"/>
                    </a:solidFill>
                  </a:tcPr>
                </a:tc>
                <a:tc>
                  <a:txBody>
                    <a:bodyPr wrap="square"/>
                    <a:lstStyle/>
                    <a:p>
                      <a:pPr algn="ctr"/>
                      <a:r>
                        <a:rPr sz="1200" b="0">
                          <a:solidFill>
                            <a:srgbClr val="334155"/>
                          </a:solidFill>
                          <a:latin typeface="Segoe UI"/>
                        </a:rPr>
                        <a:t>0.9971</a:t>
                      </a:r>
                    </a:p>
                  </a:txBody>
                  <a:tcPr marL="73152" marR="73152" marT="18288" marB="18288" anchor="ctr">
                    <a:solidFill>
                      <a:srgbClr val="F1F5F9"/>
                    </a:solidFill>
                  </a:tcPr>
                </a:tc>
                <a:tc>
                  <a:txBody>
                    <a:bodyPr wrap="square"/>
                    <a:lstStyle/>
                    <a:p>
                      <a:pPr algn="ctr"/>
                      <a:r>
                        <a:rPr sz="1200" b="0">
                          <a:solidFill>
                            <a:srgbClr val="334155"/>
                          </a:solidFill>
                          <a:latin typeface="Segoe UI"/>
                        </a:rPr>
                        <a:t>0.9923</a:t>
                      </a:r>
                    </a:p>
                  </a:txBody>
                  <a:tcPr marL="73152" marR="73152" marT="18288" marB="18288" anchor="ctr">
                    <a:solidFill>
                      <a:srgbClr val="F1F5F9"/>
                    </a:solidFill>
                  </a:tcPr>
                </a:tc>
                <a:tc>
                  <a:txBody>
                    <a:bodyPr wrap="square"/>
                    <a:lstStyle/>
                    <a:p>
                      <a:pPr algn="ctr"/>
                      <a:r>
                        <a:rPr sz="1200" b="0">
                          <a:solidFill>
                            <a:srgbClr val="334155"/>
                          </a:solidFill>
                          <a:latin typeface="Segoe UI"/>
                        </a:rPr>
                        <a:t>-0.0048</a:t>
                      </a:r>
                    </a:p>
                  </a:txBody>
                  <a:tcPr marL="73152" marR="73152" marT="18288" marB="18288" anchor="ctr">
                    <a:solidFill>
                      <a:srgbClr val="F1F5F9"/>
                    </a:solidFill>
                  </a:tcPr>
                </a:tc>
              </a:tr>
              <a:tr h="338328">
                <a:tc>
                  <a:txBody>
                    <a:bodyPr wrap="square"/>
                    <a:lstStyle/>
                    <a:p>
                      <a:pPr algn="l"/>
                      <a:r>
                        <a:rPr sz="1200" b="0">
                          <a:solidFill>
                            <a:srgbClr val="334155"/>
                          </a:solidFill>
                          <a:latin typeface="Segoe UI"/>
                        </a:rPr>
                        <a:t>DoS-Slow</a:t>
                      </a:r>
                    </a:p>
                  </a:txBody>
                  <a:tcPr marL="73152" marR="73152" marT="18288" marB="18288" anchor="ctr">
                    <a:solidFill>
                      <a:srgbClr val="FFFFFF"/>
                    </a:solidFill>
                  </a:tcPr>
                </a:tc>
                <a:tc>
                  <a:txBody>
                    <a:bodyPr wrap="square"/>
                    <a:lstStyle/>
                    <a:p>
                      <a:pPr algn="ctr"/>
                      <a:r>
                        <a:rPr sz="1200" b="0">
                          <a:solidFill>
                            <a:srgbClr val="334155"/>
                          </a:solidFill>
                          <a:latin typeface="Segoe UI"/>
                        </a:rPr>
                        <a:t>0.9817</a:t>
                      </a:r>
                    </a:p>
                  </a:txBody>
                  <a:tcPr marL="73152" marR="73152" marT="18288" marB="18288" anchor="ctr">
                    <a:solidFill>
                      <a:srgbClr val="FFFFFF"/>
                    </a:solidFill>
                  </a:tcPr>
                </a:tc>
                <a:tc>
                  <a:txBody>
                    <a:bodyPr wrap="square"/>
                    <a:lstStyle/>
                    <a:p>
                      <a:pPr algn="ctr"/>
                      <a:r>
                        <a:rPr sz="1200" b="0">
                          <a:solidFill>
                            <a:srgbClr val="334155"/>
                          </a:solidFill>
                          <a:latin typeface="Segoe UI"/>
                        </a:rPr>
                        <a:t>0.9912</a:t>
                      </a:r>
                    </a:p>
                  </a:txBody>
                  <a:tcPr marL="73152" marR="73152" marT="18288" marB="18288" anchor="ctr">
                    <a:solidFill>
                      <a:srgbClr val="FFFFFF"/>
                    </a:solidFill>
                  </a:tcPr>
                </a:tc>
                <a:tc>
                  <a:txBody>
                    <a:bodyPr wrap="square"/>
                    <a:lstStyle/>
                    <a:p>
                      <a:pPr algn="ctr"/>
                      <a:r>
                        <a:rPr sz="1200" b="0">
                          <a:solidFill>
                            <a:srgbClr val="334155"/>
                          </a:solidFill>
                          <a:latin typeface="Segoe UI"/>
                        </a:rPr>
                        <a:t>+0.0095</a:t>
                      </a:r>
                    </a:p>
                  </a:txBody>
                  <a:tcPr marL="73152" marR="73152" marT="18288" marB="18288" anchor="ctr">
                    <a:solidFill>
                      <a:srgbClr val="FFFFFF"/>
                    </a:solidFill>
                  </a:tcPr>
                </a:tc>
              </a:tr>
              <a:tr h="338328">
                <a:tc>
                  <a:txBody>
                    <a:bodyPr wrap="square"/>
                    <a:lstStyle/>
                    <a:p>
                      <a:pPr algn="l"/>
                      <a:r>
                        <a:rPr sz="1200" b="1">
                          <a:solidFill>
                            <a:srgbClr val="0F172A"/>
                          </a:solidFill>
                          <a:latin typeface="Segoe UI"/>
                        </a:rPr>
                        <a:t>BruteForce</a:t>
                      </a:r>
                    </a:p>
                  </a:txBody>
                  <a:tcPr marL="73152" marR="73152" marT="18288" marB="18288" anchor="ctr">
                    <a:solidFill>
                      <a:srgbClr val="F1F5F9"/>
                    </a:solidFill>
                  </a:tcPr>
                </a:tc>
                <a:tc>
                  <a:txBody>
                    <a:bodyPr wrap="square"/>
                    <a:lstStyle/>
                    <a:p>
                      <a:pPr algn="ctr"/>
                      <a:r>
                        <a:rPr sz="1200" b="1">
                          <a:solidFill>
                            <a:srgbClr val="0F172A"/>
                          </a:solidFill>
                          <a:latin typeface="Segoe UI"/>
                        </a:rPr>
                        <a:t>0.9942</a:t>
                      </a:r>
                    </a:p>
                  </a:txBody>
                  <a:tcPr marL="73152" marR="73152" marT="18288" marB="18288" anchor="ctr">
                    <a:solidFill>
                      <a:srgbClr val="F1F5F9"/>
                    </a:solidFill>
                  </a:tcPr>
                </a:tc>
                <a:tc>
                  <a:txBody>
                    <a:bodyPr wrap="square"/>
                    <a:lstStyle/>
                    <a:p>
                      <a:pPr algn="ctr"/>
                      <a:r>
                        <a:rPr sz="1200" b="1">
                          <a:solidFill>
                            <a:srgbClr val="0F172A"/>
                          </a:solidFill>
                          <a:latin typeface="Segoe UI"/>
                        </a:rPr>
                        <a:t>0.8926</a:t>
                      </a:r>
                    </a:p>
                  </a:txBody>
                  <a:tcPr marL="73152" marR="73152" marT="18288" marB="18288" anchor="ctr">
                    <a:solidFill>
                      <a:srgbClr val="F1F5F9"/>
                    </a:solidFill>
                  </a:tcPr>
                </a:tc>
                <a:tc>
                  <a:txBody>
                    <a:bodyPr wrap="square"/>
                    <a:lstStyle/>
                    <a:p>
                      <a:pPr algn="ctr"/>
                      <a:r>
                        <a:rPr sz="1200" b="1">
                          <a:solidFill>
                            <a:srgbClr val="0F172A"/>
                          </a:solidFill>
                          <a:latin typeface="Segoe UI"/>
                        </a:rPr>
                        <a:t>-0.1016</a:t>
                      </a:r>
                    </a:p>
                  </a:txBody>
                  <a:tcPr marL="73152" marR="73152" marT="18288" marB="18288" anchor="ctr">
                    <a:solidFill>
                      <a:srgbClr val="F1F5F9"/>
                    </a:solidFill>
                  </a:tcPr>
                </a:tc>
              </a:tr>
              <a:tr h="338328">
                <a:tc>
                  <a:txBody>
                    <a:bodyPr wrap="square"/>
                    <a:lstStyle/>
                    <a:p>
                      <a:pPr algn="l"/>
                      <a:r>
                        <a:rPr sz="1200" b="1">
                          <a:solidFill>
                            <a:srgbClr val="0F172A"/>
                          </a:solidFill>
                          <a:latin typeface="Segoe UI"/>
                        </a:rPr>
                        <a:t>PortScan</a:t>
                      </a:r>
                    </a:p>
                  </a:txBody>
                  <a:tcPr marL="73152" marR="73152" marT="18288" marB="18288" anchor="ctr">
                    <a:solidFill>
                      <a:srgbClr val="FFFFFF"/>
                    </a:solidFill>
                  </a:tcPr>
                </a:tc>
                <a:tc>
                  <a:txBody>
                    <a:bodyPr wrap="square"/>
                    <a:lstStyle/>
                    <a:p>
                      <a:pPr algn="ctr"/>
                      <a:r>
                        <a:rPr sz="1200" b="1">
                          <a:solidFill>
                            <a:srgbClr val="0F172A"/>
                          </a:solidFill>
                          <a:latin typeface="Segoe UI"/>
                        </a:rPr>
                        <a:t>0.9785</a:t>
                      </a:r>
                    </a:p>
                  </a:txBody>
                  <a:tcPr marL="73152" marR="73152" marT="18288" marB="18288" anchor="ctr">
                    <a:solidFill>
                      <a:srgbClr val="FFFFFF"/>
                    </a:solidFill>
                  </a:tcPr>
                </a:tc>
                <a:tc>
                  <a:txBody>
                    <a:bodyPr wrap="square"/>
                    <a:lstStyle/>
                    <a:p>
                      <a:pPr algn="ctr"/>
                      <a:r>
                        <a:rPr sz="1200" b="1">
                          <a:solidFill>
                            <a:srgbClr val="0F172A"/>
                          </a:solidFill>
                          <a:latin typeface="Segoe UI"/>
                        </a:rPr>
                        <a:t>0.9139</a:t>
                      </a:r>
                    </a:p>
                  </a:txBody>
                  <a:tcPr marL="73152" marR="73152" marT="18288" marB="18288" anchor="ctr">
                    <a:solidFill>
                      <a:srgbClr val="FFFFFF"/>
                    </a:solidFill>
                  </a:tcPr>
                </a:tc>
                <a:tc>
                  <a:txBody>
                    <a:bodyPr wrap="square"/>
                    <a:lstStyle/>
                    <a:p>
                      <a:pPr algn="ctr"/>
                      <a:r>
                        <a:rPr sz="1200" b="1">
                          <a:solidFill>
                            <a:srgbClr val="0F172A"/>
                          </a:solidFill>
                          <a:latin typeface="Segoe UI"/>
                        </a:rPr>
                        <a:t>-0.0646</a:t>
                      </a:r>
                    </a:p>
                  </a:txBody>
                  <a:tcPr marL="73152" marR="73152" marT="18288" marB="18288" anchor="ctr">
                    <a:solidFill>
                      <a:srgbClr val="FFFFFF"/>
                    </a:solidFill>
                  </a:tcPr>
                </a:tc>
              </a:tr>
              <a:tr h="338328">
                <a:tc>
                  <a:txBody>
                    <a:bodyPr wrap="square"/>
                    <a:lstStyle/>
                    <a:p>
                      <a:pPr algn="l"/>
                      <a:r>
                        <a:rPr sz="1200" b="0">
                          <a:solidFill>
                            <a:srgbClr val="334155"/>
                          </a:solidFill>
                          <a:latin typeface="Segoe UI"/>
                        </a:rPr>
                        <a:t>Bot</a:t>
                      </a:r>
                    </a:p>
                  </a:txBody>
                  <a:tcPr marL="73152" marR="73152" marT="18288" marB="18288" anchor="ctr">
                    <a:solidFill>
                      <a:srgbClr val="F1F5F9"/>
                    </a:solidFill>
                  </a:tcPr>
                </a:tc>
                <a:tc>
                  <a:txBody>
                    <a:bodyPr wrap="square"/>
                    <a:lstStyle/>
                    <a:p>
                      <a:pPr algn="ctr"/>
                      <a:r>
                        <a:rPr sz="1200" b="0">
                          <a:solidFill>
                            <a:srgbClr val="334155"/>
                          </a:solidFill>
                          <a:latin typeface="Segoe UI"/>
                        </a:rPr>
                        <a:t>0.7326</a:t>
                      </a:r>
                    </a:p>
                  </a:txBody>
                  <a:tcPr marL="73152" marR="73152" marT="18288" marB="18288" anchor="ctr">
                    <a:solidFill>
                      <a:srgbClr val="F1F5F9"/>
                    </a:solidFill>
                  </a:tcPr>
                </a:tc>
                <a:tc>
                  <a:txBody>
                    <a:bodyPr wrap="square"/>
                    <a:lstStyle/>
                    <a:p>
                      <a:pPr algn="ctr"/>
                      <a:r>
                        <a:rPr sz="1200" b="0">
                          <a:solidFill>
                            <a:srgbClr val="334155"/>
                          </a:solidFill>
                          <a:latin typeface="Segoe UI"/>
                        </a:rPr>
                        <a:t>0.6869</a:t>
                      </a:r>
                    </a:p>
                  </a:txBody>
                  <a:tcPr marL="73152" marR="73152" marT="18288" marB="18288" anchor="ctr">
                    <a:solidFill>
                      <a:srgbClr val="F1F5F9"/>
                    </a:solidFill>
                  </a:tcPr>
                </a:tc>
                <a:tc>
                  <a:txBody>
                    <a:bodyPr wrap="square"/>
                    <a:lstStyle/>
                    <a:p>
                      <a:pPr algn="ctr"/>
                      <a:r>
                        <a:rPr sz="1200" b="0">
                          <a:solidFill>
                            <a:srgbClr val="334155"/>
                          </a:solidFill>
                          <a:latin typeface="Segoe UI"/>
                        </a:rPr>
                        <a:t>-0.0456</a:t>
                      </a:r>
                    </a:p>
                  </a:txBody>
                  <a:tcPr marL="73152" marR="73152" marT="18288" marB="18288" anchor="ctr">
                    <a:solidFill>
                      <a:srgbClr val="F1F5F9"/>
                    </a:solidFill>
                  </a:tcPr>
                </a:tc>
              </a:tr>
              <a:tr h="338328">
                <a:tc>
                  <a:txBody>
                    <a:bodyPr wrap="square"/>
                    <a:lstStyle/>
                    <a:p>
                      <a:pPr algn="l"/>
                      <a:r>
                        <a:rPr sz="1200" b="1">
                          <a:solidFill>
                            <a:srgbClr val="0F172A"/>
                          </a:solidFill>
                          <a:latin typeface="Segoe UI"/>
                        </a:rPr>
                        <a:t>WebAttack</a:t>
                      </a:r>
                    </a:p>
                  </a:txBody>
                  <a:tcPr marL="73152" marR="73152" marT="18288" marB="18288" anchor="ctr">
                    <a:solidFill>
                      <a:srgbClr val="FFFFFF"/>
                    </a:solidFill>
                  </a:tcPr>
                </a:tc>
                <a:tc>
                  <a:txBody>
                    <a:bodyPr wrap="square"/>
                    <a:lstStyle/>
                    <a:p>
                      <a:pPr algn="ctr"/>
                      <a:r>
                        <a:rPr sz="1200" b="1">
                          <a:solidFill>
                            <a:srgbClr val="0F172A"/>
                          </a:solidFill>
                          <a:latin typeface="Segoe UI"/>
                        </a:rPr>
                        <a:t>0.9732</a:t>
                      </a:r>
                    </a:p>
                  </a:txBody>
                  <a:tcPr marL="73152" marR="73152" marT="18288" marB="18288" anchor="ctr">
                    <a:solidFill>
                      <a:srgbClr val="FFFFFF"/>
                    </a:solidFill>
                  </a:tcPr>
                </a:tc>
                <a:tc>
                  <a:txBody>
                    <a:bodyPr wrap="square"/>
                    <a:lstStyle/>
                    <a:p>
                      <a:pPr algn="ctr"/>
                      <a:r>
                        <a:rPr sz="1200" b="1">
                          <a:solidFill>
                            <a:srgbClr val="0F172A"/>
                          </a:solidFill>
                          <a:latin typeface="Segoe UI"/>
                        </a:rPr>
                        <a:t>0.2503</a:t>
                      </a:r>
                    </a:p>
                  </a:txBody>
                  <a:tcPr marL="73152" marR="73152" marT="18288" marB="18288" anchor="ctr">
                    <a:solidFill>
                      <a:srgbClr val="FFFFFF"/>
                    </a:solidFill>
                  </a:tcPr>
                </a:tc>
                <a:tc>
                  <a:txBody>
                    <a:bodyPr wrap="square"/>
                    <a:lstStyle/>
                    <a:p>
                      <a:pPr algn="ctr"/>
                      <a:r>
                        <a:rPr sz="1200" b="1">
                          <a:solidFill>
                            <a:srgbClr val="0F172A"/>
                          </a:solidFill>
                          <a:latin typeface="Segoe UI"/>
                        </a:rPr>
                        <a:t>-0.7229</a:t>
                      </a:r>
                    </a:p>
                  </a:txBody>
                  <a:tcPr marL="73152" marR="73152" marT="18288" marB="18288" anchor="ctr">
                    <a:solidFill>
                      <a:srgbClr val="FFFFFF"/>
                    </a:solidFill>
                  </a:tcPr>
                </a:tc>
              </a:tr>
            </a:tbl>
          </a:graphicData>
        </a:graphic>
      </p:graphicFrame>
      <p:sp>
        <p:nvSpPr>
          <p:cNvPr id="19" name="TextBox 18"/>
          <p:cNvSpPr txBox="1"/>
          <p:nvPr/>
        </p:nvSpPr>
        <p:spPr>
          <a:xfrm>
            <a:off x="6278727" y="3017520"/>
            <a:ext cx="4907127" cy="3108960"/>
          </a:xfrm>
          <a:prstGeom prst="rect">
            <a:avLst/>
          </a:prstGeom>
          <a:noFill/>
        </p:spPr>
        <p:txBody>
          <a:bodyPr wrap="square">
            <a:spAutoFit/>
          </a:bodyPr>
          <a:lstStyle/>
          <a:p>
            <a:pPr algn="l">
              <a:spcAft>
                <a:spcPts val="600"/>
              </a:spcAft>
            </a:pPr>
            <a:r>
              <a:rPr sz="1600" b="1" i="0">
                <a:solidFill>
                  <a:srgbClr val="0F172A"/>
                </a:solidFill>
                <a:latin typeface="Segoe UI"/>
              </a:rPr>
              <a:t>The loss is not spread evenly</a:t>
            </a:r>
          </a:p>
          <a:p>
            <a:pPr>
              <a:spcAft>
                <a:spcPts val="600"/>
              </a:spcAft>
            </a:pPr>
            <a:r>
              <a:rPr sz="1400" b="0" i="0">
                <a:solidFill>
                  <a:srgbClr val="334155"/>
                </a:solidFill>
                <a:latin typeface="Segoe UI"/>
              </a:rPr>
              <a:t>Volumetric attacks survive almost intact. DDoS, DoS and DoS-Slow all stay above 0.99: they change the shape of traffic, and shape is exactly what six flow statistics measure.</a:t>
            </a:r>
          </a:p>
          <a:p>
            <a:pPr>
              <a:spcAft>
                <a:spcPts val="600"/>
              </a:spcAft>
            </a:pPr>
            <a:r>
              <a:rPr sz="1400" b="0" i="0">
                <a:solidFill>
                  <a:srgbClr val="B91C1C"/>
                </a:solidFill>
                <a:latin typeface="Segoe UI"/>
              </a:rPr>
              <a:t>WebAttack collapses from F1 0.9732 to 0.2503, but not by missing attacks: recall is identical at 0.9626. Precision falls from 0.9841 to 0.1439, because benign flows get labelled WebAttack.</a:t>
            </a:r>
          </a:p>
          <a:p>
            <a:pPr>
              <a:spcAft>
                <a:spcPts val="600"/>
              </a:spcAft>
            </a:pPr>
            <a:r>
              <a:rPr sz="1400" b="1" i="0">
                <a:solidFill>
                  <a:srgbClr val="0F172A"/>
                </a:solidFill>
                <a:latin typeface="Segoe UI"/>
              </a:rPr>
              <a:t>Stated plainly: six header-derived statistics are sufficient to recognise attacks that change the shape of traffic, and insufficient for attacks that change only its content.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RESULTS</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Where the errors actually are</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14</a:t>
            </a:r>
          </a:p>
        </p:txBody>
      </p:sp>
      <p:sp>
        <p:nvSpPr>
          <p:cNvPr id="6" name="TextBox 5"/>
          <p:cNvSpPr txBox="1"/>
          <p:nvPr/>
        </p:nvSpPr>
        <p:spPr>
          <a:xfrm>
            <a:off x="822960" y="1627632"/>
            <a:ext cx="10545775" cy="365760"/>
          </a:xfrm>
          <a:prstGeom prst="rect">
            <a:avLst/>
          </a:prstGeom>
          <a:noFill/>
        </p:spPr>
        <p:txBody>
          <a:bodyPr wrap="square">
            <a:spAutoFit/>
          </a:bodyPr>
          <a:lstStyle/>
          <a:p>
            <a:pPr algn="l">
              <a:spcAft>
                <a:spcPts val="600"/>
              </a:spcAft>
            </a:pPr>
            <a:r>
              <a:rPr sz="1400" b="0" i="0">
                <a:solidFill>
                  <a:srgbClr val="64748B"/>
                </a:solidFill>
                <a:latin typeface="Segoe UI"/>
              </a:rPr>
              <a:t>Confusion matrices for the selected Random Forest on each feature set, row-normalised.</a:t>
            </a:r>
          </a:p>
        </p:txBody>
      </p:sp>
      <p:pic>
        <p:nvPicPr>
          <p:cNvPr id="7" name="Picture 6" descr="confusion_full_random_forest.png"/>
          <p:cNvPicPr>
            <a:picLocks noChangeAspect="1"/>
          </p:cNvPicPr>
          <p:nvPr/>
        </p:nvPicPr>
        <p:blipFill>
          <a:blip r:embed="rId2"/>
          <a:stretch>
            <a:fillRect/>
          </a:stretch>
        </p:blipFill>
        <p:spPr>
          <a:xfrm>
            <a:off x="1424863" y="2057400"/>
            <a:ext cx="3840480" cy="3200400"/>
          </a:xfrm>
          <a:prstGeom prst="rect">
            <a:avLst/>
          </a:prstGeom>
        </p:spPr>
      </p:pic>
      <p:sp>
        <p:nvSpPr>
          <p:cNvPr id="8" name="TextBox 7"/>
          <p:cNvSpPr txBox="1"/>
          <p:nvPr/>
        </p:nvSpPr>
        <p:spPr>
          <a:xfrm>
            <a:off x="822960" y="5312664"/>
            <a:ext cx="5044287" cy="274320"/>
          </a:xfrm>
          <a:prstGeom prst="rect">
            <a:avLst/>
          </a:prstGeom>
          <a:noFill/>
        </p:spPr>
        <p:txBody>
          <a:bodyPr wrap="square">
            <a:spAutoFit/>
          </a:bodyPr>
          <a:lstStyle/>
          <a:p>
            <a:pPr algn="ctr">
              <a:spcAft>
                <a:spcPts val="600"/>
              </a:spcAft>
            </a:pPr>
            <a:r>
              <a:rPr sz="1100" b="0" i="1">
                <a:solidFill>
                  <a:srgbClr val="64748B"/>
                </a:solidFill>
                <a:latin typeface="Segoe UI"/>
              </a:rPr>
              <a:t>Full feature set (59 features)</a:t>
            </a:r>
          </a:p>
        </p:txBody>
      </p:sp>
      <p:pic>
        <p:nvPicPr>
          <p:cNvPr id="9" name="Picture 8" descr="confusion_lite_random_forest.png"/>
          <p:cNvPicPr>
            <a:picLocks noChangeAspect="1"/>
          </p:cNvPicPr>
          <p:nvPr/>
        </p:nvPicPr>
        <p:blipFill>
          <a:blip r:embed="rId3"/>
          <a:stretch>
            <a:fillRect/>
          </a:stretch>
        </p:blipFill>
        <p:spPr>
          <a:xfrm>
            <a:off x="6926350" y="2057400"/>
            <a:ext cx="3840480" cy="3200400"/>
          </a:xfrm>
          <a:prstGeom prst="rect">
            <a:avLst/>
          </a:prstGeom>
        </p:spPr>
      </p:pic>
      <p:sp>
        <p:nvSpPr>
          <p:cNvPr id="10" name="TextBox 9"/>
          <p:cNvSpPr txBox="1"/>
          <p:nvPr/>
        </p:nvSpPr>
        <p:spPr>
          <a:xfrm>
            <a:off x="6324447" y="5312664"/>
            <a:ext cx="5044287" cy="274320"/>
          </a:xfrm>
          <a:prstGeom prst="rect">
            <a:avLst/>
          </a:prstGeom>
          <a:noFill/>
        </p:spPr>
        <p:txBody>
          <a:bodyPr wrap="square">
            <a:spAutoFit/>
          </a:bodyPr>
          <a:lstStyle/>
          <a:p>
            <a:pPr algn="ctr">
              <a:spcAft>
                <a:spcPts val="600"/>
              </a:spcAft>
            </a:pPr>
            <a:r>
              <a:rPr sz="1100" b="0" i="1">
                <a:solidFill>
                  <a:srgbClr val="64748B"/>
                </a:solidFill>
                <a:latin typeface="Segoe UI"/>
              </a:rPr>
              <a:t>Lite feature set (6 live features)</a:t>
            </a:r>
          </a:p>
        </p:txBody>
      </p:sp>
      <p:sp>
        <p:nvSpPr>
          <p:cNvPr id="11" name="Rounded Rectangle 10"/>
          <p:cNvSpPr/>
          <p:nvPr/>
        </p:nvSpPr>
        <p:spPr>
          <a:xfrm>
            <a:off x="822960" y="5623560"/>
            <a:ext cx="9722815" cy="658368"/>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51560" y="5742432"/>
            <a:ext cx="9265615" cy="502920"/>
          </a:xfrm>
          <a:prstGeom prst="rect">
            <a:avLst/>
          </a:prstGeom>
          <a:noFill/>
        </p:spPr>
        <p:txBody>
          <a:bodyPr wrap="square">
            <a:spAutoFit/>
          </a:bodyPr>
          <a:lstStyle/>
          <a:p>
            <a:pPr algn="l">
              <a:spcAft>
                <a:spcPts val="600"/>
              </a:spcAft>
            </a:pPr>
            <a:r>
              <a:rPr sz="1350" b="0" i="0">
                <a:solidFill>
                  <a:srgbClr val="0F172A"/>
                </a:solidFill>
                <a:latin typeface="Segoe UI"/>
              </a:rPr>
              <a:t>Both keep the diagonal almost everywhere. The difference is the Benign row: the lite model labels 1,821 benign flows as WebAttack. Its WebAttack recall is unchanged at 0.9626; it is precision that collapses, to 0.1439.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RESULTS</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Results: autoencoder (trained on benign only)</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15</a:t>
            </a:r>
          </a:p>
        </p:txBody>
      </p:sp>
      <p:sp>
        <p:nvSpPr>
          <p:cNvPr id="6" name="Rounded Rectangle 5"/>
          <p:cNvSpPr/>
          <p:nvPr/>
        </p:nvSpPr>
        <p:spPr>
          <a:xfrm>
            <a:off x="822960" y="1664208"/>
            <a:ext cx="2512999" cy="96012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60" y="1792224"/>
            <a:ext cx="2512999" cy="502920"/>
          </a:xfrm>
          <a:prstGeom prst="rect">
            <a:avLst/>
          </a:prstGeom>
          <a:noFill/>
        </p:spPr>
        <p:txBody>
          <a:bodyPr wrap="square">
            <a:spAutoFit/>
          </a:bodyPr>
          <a:lstStyle/>
          <a:p>
            <a:pPr algn="ctr">
              <a:spcAft>
                <a:spcPts val="0"/>
              </a:spcAft>
            </a:pPr>
            <a:r>
              <a:rPr sz="2800" b="1" i="0">
                <a:solidFill>
                  <a:srgbClr val="0EA5E9"/>
                </a:solidFill>
                <a:latin typeface="Segoe UI"/>
              </a:rPr>
              <a:t>0.9603</a:t>
            </a:r>
          </a:p>
        </p:txBody>
      </p:sp>
      <p:sp>
        <p:nvSpPr>
          <p:cNvPr id="8" name="TextBox 7"/>
          <p:cNvSpPr txBox="1"/>
          <p:nvPr/>
        </p:nvSpPr>
        <p:spPr>
          <a:xfrm>
            <a:off x="822960" y="2286000"/>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ROC-AUC</a:t>
            </a:r>
          </a:p>
        </p:txBody>
      </p:sp>
      <p:sp>
        <p:nvSpPr>
          <p:cNvPr id="9" name="Rounded Rectangle 8"/>
          <p:cNvSpPr/>
          <p:nvPr/>
        </p:nvSpPr>
        <p:spPr>
          <a:xfrm>
            <a:off x="3500551" y="1664208"/>
            <a:ext cx="2512999" cy="96012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500551" y="1792224"/>
            <a:ext cx="2512999" cy="502920"/>
          </a:xfrm>
          <a:prstGeom prst="rect">
            <a:avLst/>
          </a:prstGeom>
          <a:noFill/>
        </p:spPr>
        <p:txBody>
          <a:bodyPr wrap="square">
            <a:spAutoFit/>
          </a:bodyPr>
          <a:lstStyle/>
          <a:p>
            <a:pPr algn="ctr">
              <a:spcAft>
                <a:spcPts val="0"/>
              </a:spcAft>
            </a:pPr>
            <a:r>
              <a:rPr sz="2800" b="1" i="0">
                <a:solidFill>
                  <a:srgbClr val="0F172A"/>
                </a:solidFill>
                <a:latin typeface="Segoe UI"/>
              </a:rPr>
              <a:t>38.87%</a:t>
            </a:r>
          </a:p>
        </p:txBody>
      </p:sp>
      <p:sp>
        <p:nvSpPr>
          <p:cNvPr id="11" name="TextBox 10"/>
          <p:cNvSpPr txBox="1"/>
          <p:nvPr/>
        </p:nvSpPr>
        <p:spPr>
          <a:xfrm>
            <a:off x="3500551" y="2286000"/>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Detection rate</a:t>
            </a:r>
          </a:p>
        </p:txBody>
      </p:sp>
      <p:sp>
        <p:nvSpPr>
          <p:cNvPr id="12" name="Rounded Rectangle 11"/>
          <p:cNvSpPr/>
          <p:nvPr/>
        </p:nvSpPr>
        <p:spPr>
          <a:xfrm>
            <a:off x="6178142" y="1664208"/>
            <a:ext cx="2512999" cy="96012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78142" y="1792224"/>
            <a:ext cx="2512999" cy="502920"/>
          </a:xfrm>
          <a:prstGeom prst="rect">
            <a:avLst/>
          </a:prstGeom>
          <a:noFill/>
        </p:spPr>
        <p:txBody>
          <a:bodyPr wrap="square">
            <a:spAutoFit/>
          </a:bodyPr>
          <a:lstStyle/>
          <a:p>
            <a:pPr algn="ctr">
              <a:spcAft>
                <a:spcPts val="0"/>
              </a:spcAft>
            </a:pPr>
            <a:r>
              <a:rPr sz="2800" b="1" i="0">
                <a:solidFill>
                  <a:srgbClr val="15803D"/>
                </a:solidFill>
                <a:latin typeface="Segoe UI"/>
              </a:rPr>
              <a:t>1.01%</a:t>
            </a:r>
          </a:p>
        </p:txBody>
      </p:sp>
      <p:sp>
        <p:nvSpPr>
          <p:cNvPr id="14" name="TextBox 13"/>
          <p:cNvSpPr txBox="1"/>
          <p:nvPr/>
        </p:nvSpPr>
        <p:spPr>
          <a:xfrm>
            <a:off x="6178142" y="2286000"/>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False-positive rate</a:t>
            </a:r>
          </a:p>
        </p:txBody>
      </p:sp>
      <p:sp>
        <p:nvSpPr>
          <p:cNvPr id="15" name="Rounded Rectangle 14"/>
          <p:cNvSpPr/>
          <p:nvPr/>
        </p:nvSpPr>
        <p:spPr>
          <a:xfrm>
            <a:off x="8855733" y="1664208"/>
            <a:ext cx="2512999" cy="96012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855733" y="1792224"/>
            <a:ext cx="2512999" cy="502920"/>
          </a:xfrm>
          <a:prstGeom prst="rect">
            <a:avLst/>
          </a:prstGeom>
          <a:noFill/>
        </p:spPr>
        <p:txBody>
          <a:bodyPr wrap="square">
            <a:spAutoFit/>
          </a:bodyPr>
          <a:lstStyle/>
          <a:p>
            <a:pPr algn="ctr">
              <a:spcAft>
                <a:spcPts val="0"/>
              </a:spcAft>
            </a:pPr>
            <a:r>
              <a:rPr sz="2800" b="1" i="0">
                <a:solidFill>
                  <a:srgbClr val="0F172A"/>
                </a:solidFill>
                <a:latin typeface="Segoe UI"/>
              </a:rPr>
              <a:t>0.8748</a:t>
            </a:r>
          </a:p>
        </p:txBody>
      </p:sp>
      <p:sp>
        <p:nvSpPr>
          <p:cNvPr id="17" name="TextBox 16"/>
          <p:cNvSpPr txBox="1"/>
          <p:nvPr/>
        </p:nvSpPr>
        <p:spPr>
          <a:xfrm>
            <a:off x="8855733" y="2286000"/>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Precision</a:t>
            </a:r>
          </a:p>
        </p:txBody>
      </p:sp>
      <p:sp>
        <p:nvSpPr>
          <p:cNvPr id="18" name="TextBox 17"/>
          <p:cNvSpPr txBox="1"/>
          <p:nvPr/>
        </p:nvSpPr>
        <p:spPr>
          <a:xfrm>
            <a:off x="822960" y="2743200"/>
            <a:ext cx="9722815" cy="457200"/>
          </a:xfrm>
          <a:prstGeom prst="rect">
            <a:avLst/>
          </a:prstGeom>
          <a:noFill/>
        </p:spPr>
        <p:txBody>
          <a:bodyPr wrap="square">
            <a:spAutoFit/>
          </a:bodyPr>
          <a:lstStyle/>
          <a:p>
            <a:pPr algn="l">
              <a:spcAft>
                <a:spcPts val="600"/>
              </a:spcAft>
            </a:pPr>
            <a:r>
              <a:rPr sz="1400" b="1" i="0">
                <a:solidFill>
                  <a:srgbClr val="0F172A"/>
                </a:solidFill>
                <a:latin typeface="Segoe UI"/>
              </a:rPr>
              <a:t>A low detection rate is the design, not a failure: the threshold is fixed at the 99th percentile of benign validation error, which buys a 1.01% false-alarm rate and gives up recall.</a:t>
            </a:r>
          </a:p>
        </p:txBody>
      </p:sp>
      <p:pic>
        <p:nvPicPr>
          <p:cNvPr id="19" name="Picture 18" descr="autoencoder_errors.png"/>
          <p:cNvPicPr>
            <a:picLocks noChangeAspect="1"/>
          </p:cNvPicPr>
          <p:nvPr/>
        </p:nvPicPr>
        <p:blipFill>
          <a:blip r:embed="rId2"/>
          <a:stretch>
            <a:fillRect/>
          </a:stretch>
        </p:blipFill>
        <p:spPr>
          <a:xfrm>
            <a:off x="822960" y="3513886"/>
            <a:ext cx="5483803" cy="2024788"/>
          </a:xfrm>
          <a:prstGeom prst="rect">
            <a:avLst/>
          </a:prstGeom>
        </p:spPr>
      </p:pic>
      <p:sp>
        <p:nvSpPr>
          <p:cNvPr id="20" name="TextBox 19"/>
          <p:cNvSpPr txBox="1"/>
          <p:nvPr/>
        </p:nvSpPr>
        <p:spPr>
          <a:xfrm>
            <a:off x="822960" y="5593538"/>
            <a:ext cx="5483803" cy="274320"/>
          </a:xfrm>
          <a:prstGeom prst="rect">
            <a:avLst/>
          </a:prstGeom>
          <a:noFill/>
        </p:spPr>
        <p:txBody>
          <a:bodyPr wrap="square">
            <a:spAutoFit/>
          </a:bodyPr>
          <a:lstStyle/>
          <a:p>
            <a:pPr algn="ctr">
              <a:spcAft>
                <a:spcPts val="600"/>
              </a:spcAft>
            </a:pPr>
            <a:r>
              <a:rPr sz="1100" b="0" i="1">
                <a:solidFill>
                  <a:srgbClr val="64748B"/>
                </a:solidFill>
                <a:latin typeface="Segoe UI"/>
              </a:rPr>
              <a:t>Reconstruction error, benign versus attack, with the threshold</a:t>
            </a:r>
          </a:p>
        </p:txBody>
      </p:sp>
      <p:graphicFrame>
        <p:nvGraphicFramePr>
          <p:cNvPr id="21" name="Table 20"/>
          <p:cNvGraphicFramePr>
            <a:graphicFrameLocks noGrp="1"/>
          </p:cNvGraphicFramePr>
          <p:nvPr/>
        </p:nvGraphicFramePr>
        <p:xfrm>
          <a:off x="6718243" y="3383280"/>
          <a:ext cx="4650492" cy="2267712"/>
        </p:xfrm>
        <a:graphic>
          <a:graphicData uri="http://schemas.openxmlformats.org/drawingml/2006/table">
            <a:tbl>
              <a:tblPr firstRow="1" bandRow="1">
                <a:tableStyleId>{5C22544A-7EE6-4342-B048-85BDC9FD1C3A}</a:tableStyleId>
              </a:tblPr>
              <a:tblGrid>
                <a:gridCol w="2325246"/>
                <a:gridCol w="2325246"/>
              </a:tblGrid>
              <a:tr h="283464">
                <a:tc>
                  <a:txBody>
                    <a:bodyPr wrap="square"/>
                    <a:lstStyle/>
                    <a:p>
                      <a:pPr algn="l"/>
                      <a:r>
                        <a:rPr sz="1200" b="1">
                          <a:solidFill>
                            <a:srgbClr val="FFFFFF"/>
                          </a:solidFill>
                          <a:latin typeface="Segoe UI"/>
                        </a:rPr>
                        <a:t>Class</a:t>
                      </a:r>
                    </a:p>
                  </a:txBody>
                  <a:tcPr marL="73152" marR="73152" marT="18288" marB="18288" anchor="ctr">
                    <a:solidFill>
                      <a:srgbClr val="0F172A"/>
                    </a:solidFill>
                  </a:tcPr>
                </a:tc>
                <a:tc>
                  <a:txBody>
                    <a:bodyPr wrap="square"/>
                    <a:lstStyle/>
                    <a:p>
                      <a:pPr algn="ctr"/>
                      <a:r>
                        <a:rPr sz="1200" b="1">
                          <a:solidFill>
                            <a:srgbClr val="FFFFFF"/>
                          </a:solidFill>
                          <a:latin typeface="Segoe UI"/>
                        </a:rPr>
                        <a:t>Share flagged anomalous</a:t>
                      </a:r>
                    </a:p>
                  </a:txBody>
                  <a:tcPr marL="73152" marR="73152" marT="18288" marB="18288" anchor="ctr">
                    <a:solidFill>
                      <a:srgbClr val="0F172A"/>
                    </a:solidFill>
                  </a:tcPr>
                </a:tc>
              </a:tr>
              <a:tr h="283464">
                <a:tc>
                  <a:txBody>
                    <a:bodyPr wrap="square"/>
                    <a:lstStyle/>
                    <a:p>
                      <a:pPr algn="l"/>
                      <a:r>
                        <a:rPr sz="1200" b="1">
                          <a:solidFill>
                            <a:srgbClr val="0F172A"/>
                          </a:solidFill>
                          <a:latin typeface="Segoe UI"/>
                        </a:rPr>
                        <a:t>DoS-Slow</a:t>
                      </a:r>
                    </a:p>
                  </a:txBody>
                  <a:tcPr marL="73152" marR="73152" marT="18288" marB="18288" anchor="ctr">
                    <a:solidFill>
                      <a:srgbClr val="FFFFFF"/>
                    </a:solidFill>
                  </a:tcPr>
                </a:tc>
                <a:tc>
                  <a:txBody>
                    <a:bodyPr wrap="square"/>
                    <a:lstStyle/>
                    <a:p>
                      <a:pPr algn="ctr"/>
                      <a:r>
                        <a:rPr sz="1200" b="1">
                          <a:solidFill>
                            <a:srgbClr val="0F172A"/>
                          </a:solidFill>
                          <a:latin typeface="Segoe UI"/>
                        </a:rPr>
                        <a:t>73.02%</a:t>
                      </a:r>
                    </a:p>
                  </a:txBody>
                  <a:tcPr marL="73152" marR="73152" marT="18288" marB="18288" anchor="ctr">
                    <a:solidFill>
                      <a:srgbClr val="FFFFFF"/>
                    </a:solidFill>
                  </a:tcPr>
                </a:tc>
              </a:tr>
              <a:tr h="283464">
                <a:tc>
                  <a:txBody>
                    <a:bodyPr wrap="square"/>
                    <a:lstStyle/>
                    <a:p>
                      <a:pPr algn="l"/>
                      <a:r>
                        <a:rPr sz="1200" b="1">
                          <a:solidFill>
                            <a:srgbClr val="0F172A"/>
                          </a:solidFill>
                          <a:latin typeface="Segoe UI"/>
                        </a:rPr>
                        <a:t>DoS</a:t>
                      </a:r>
                    </a:p>
                  </a:txBody>
                  <a:tcPr marL="73152" marR="73152" marT="18288" marB="18288" anchor="ctr">
                    <a:solidFill>
                      <a:srgbClr val="F1F5F9"/>
                    </a:solidFill>
                  </a:tcPr>
                </a:tc>
                <a:tc>
                  <a:txBody>
                    <a:bodyPr wrap="square"/>
                    <a:lstStyle/>
                    <a:p>
                      <a:pPr algn="ctr"/>
                      <a:r>
                        <a:rPr sz="1200" b="1">
                          <a:solidFill>
                            <a:srgbClr val="0F172A"/>
                          </a:solidFill>
                          <a:latin typeface="Segoe UI"/>
                        </a:rPr>
                        <a:t>48.68%</a:t>
                      </a:r>
                    </a:p>
                  </a:txBody>
                  <a:tcPr marL="73152" marR="73152" marT="18288" marB="18288" anchor="ctr">
                    <a:solidFill>
                      <a:srgbClr val="F1F5F9"/>
                    </a:solidFill>
                  </a:tcPr>
                </a:tc>
              </a:tr>
              <a:tr h="283464">
                <a:tc>
                  <a:txBody>
                    <a:bodyPr wrap="square"/>
                    <a:lstStyle/>
                    <a:p>
                      <a:pPr algn="l"/>
                      <a:r>
                        <a:rPr sz="1200" b="0">
                          <a:solidFill>
                            <a:srgbClr val="334155"/>
                          </a:solidFill>
                          <a:latin typeface="Segoe UI"/>
                        </a:rPr>
                        <a:t>DDoS</a:t>
                      </a:r>
                    </a:p>
                  </a:txBody>
                  <a:tcPr marL="73152" marR="73152" marT="18288" marB="18288" anchor="ctr">
                    <a:solidFill>
                      <a:srgbClr val="FFFFFF"/>
                    </a:solidFill>
                  </a:tcPr>
                </a:tc>
                <a:tc>
                  <a:txBody>
                    <a:bodyPr wrap="square"/>
                    <a:lstStyle/>
                    <a:p>
                      <a:pPr algn="ctr"/>
                      <a:r>
                        <a:rPr sz="1200" b="0">
                          <a:solidFill>
                            <a:srgbClr val="334155"/>
                          </a:solidFill>
                          <a:latin typeface="Segoe UI"/>
                        </a:rPr>
                        <a:t>26.14%</a:t>
                      </a:r>
                    </a:p>
                  </a:txBody>
                  <a:tcPr marL="73152" marR="73152" marT="18288" marB="18288" anchor="ctr">
                    <a:solidFill>
                      <a:srgbClr val="FFFFFF"/>
                    </a:solidFill>
                  </a:tcPr>
                </a:tc>
              </a:tr>
              <a:tr h="283464">
                <a:tc>
                  <a:txBody>
                    <a:bodyPr wrap="square"/>
                    <a:lstStyle/>
                    <a:p>
                      <a:pPr algn="l"/>
                      <a:r>
                        <a:rPr sz="1200" b="0">
                          <a:solidFill>
                            <a:srgbClr val="334155"/>
                          </a:solidFill>
                          <a:latin typeface="Segoe UI"/>
                        </a:rPr>
                        <a:t>PortScan</a:t>
                      </a:r>
                    </a:p>
                  </a:txBody>
                  <a:tcPr marL="73152" marR="73152" marT="18288" marB="18288" anchor="ctr">
                    <a:solidFill>
                      <a:srgbClr val="F1F5F9"/>
                    </a:solidFill>
                  </a:tcPr>
                </a:tc>
                <a:tc>
                  <a:txBody>
                    <a:bodyPr wrap="square"/>
                    <a:lstStyle/>
                    <a:p>
                      <a:pPr algn="ctr"/>
                      <a:r>
                        <a:rPr sz="1200" b="0">
                          <a:solidFill>
                            <a:srgbClr val="334155"/>
                          </a:solidFill>
                          <a:latin typeface="Segoe UI"/>
                        </a:rPr>
                        <a:t>18.35%</a:t>
                      </a:r>
                    </a:p>
                  </a:txBody>
                  <a:tcPr marL="73152" marR="73152" marT="18288" marB="18288" anchor="ctr">
                    <a:solidFill>
                      <a:srgbClr val="F1F5F9"/>
                    </a:solidFill>
                  </a:tcPr>
                </a:tc>
              </a:tr>
              <a:tr h="283464">
                <a:tc>
                  <a:txBody>
                    <a:bodyPr wrap="square"/>
                    <a:lstStyle/>
                    <a:p>
                      <a:pPr algn="l"/>
                      <a:r>
                        <a:rPr sz="1200" b="0">
                          <a:solidFill>
                            <a:srgbClr val="334155"/>
                          </a:solidFill>
                          <a:latin typeface="Segoe UI"/>
                        </a:rPr>
                        <a:t>BruteForce</a:t>
                      </a:r>
                    </a:p>
                  </a:txBody>
                  <a:tcPr marL="73152" marR="73152" marT="18288" marB="18288" anchor="ctr">
                    <a:solidFill>
                      <a:srgbClr val="FFFFFF"/>
                    </a:solidFill>
                  </a:tcPr>
                </a:tc>
                <a:tc>
                  <a:txBody>
                    <a:bodyPr wrap="square"/>
                    <a:lstStyle/>
                    <a:p>
                      <a:pPr algn="ctr"/>
                      <a:r>
                        <a:rPr sz="1200" b="0">
                          <a:solidFill>
                            <a:srgbClr val="334155"/>
                          </a:solidFill>
                          <a:latin typeface="Segoe UI"/>
                        </a:rPr>
                        <a:t>0.36%</a:t>
                      </a:r>
                    </a:p>
                  </a:txBody>
                  <a:tcPr marL="73152" marR="73152" marT="18288" marB="18288" anchor="ctr">
                    <a:solidFill>
                      <a:srgbClr val="FFFFFF"/>
                    </a:solidFill>
                  </a:tcPr>
                </a:tc>
              </a:tr>
              <a:tr h="283464">
                <a:tc>
                  <a:txBody>
                    <a:bodyPr wrap="square"/>
                    <a:lstStyle/>
                    <a:p>
                      <a:pPr algn="l"/>
                      <a:r>
                        <a:rPr sz="1200" b="0">
                          <a:solidFill>
                            <a:srgbClr val="334155"/>
                          </a:solidFill>
                          <a:latin typeface="Segoe UI"/>
                        </a:rPr>
                        <a:t>WebAttack</a:t>
                      </a:r>
                    </a:p>
                  </a:txBody>
                  <a:tcPr marL="73152" marR="73152" marT="18288" marB="18288" anchor="ctr">
                    <a:solidFill>
                      <a:srgbClr val="F1F5F9"/>
                    </a:solidFill>
                  </a:tcPr>
                </a:tc>
                <a:tc>
                  <a:txBody>
                    <a:bodyPr wrap="square"/>
                    <a:lstStyle/>
                    <a:p>
                      <a:pPr algn="ctr"/>
                      <a:r>
                        <a:rPr sz="1200" b="0">
                          <a:solidFill>
                            <a:srgbClr val="334155"/>
                          </a:solidFill>
                          <a:latin typeface="Segoe UI"/>
                        </a:rPr>
                        <a:t>0.31%</a:t>
                      </a:r>
                    </a:p>
                  </a:txBody>
                  <a:tcPr marL="73152" marR="73152" marT="18288" marB="18288" anchor="ctr">
                    <a:solidFill>
                      <a:srgbClr val="F1F5F9"/>
                    </a:solidFill>
                  </a:tcPr>
                </a:tc>
              </a:tr>
              <a:tr h="283464">
                <a:tc>
                  <a:txBody>
                    <a:bodyPr wrap="square"/>
                    <a:lstStyle/>
                    <a:p>
                      <a:pPr algn="l"/>
                      <a:r>
                        <a:rPr sz="1200" b="0">
                          <a:solidFill>
                            <a:srgbClr val="334155"/>
                          </a:solidFill>
                          <a:latin typeface="Segoe UI"/>
                        </a:rPr>
                        <a:t>Bot</a:t>
                      </a:r>
                    </a:p>
                  </a:txBody>
                  <a:tcPr marL="73152" marR="73152" marT="18288" marB="18288" anchor="ctr">
                    <a:solidFill>
                      <a:srgbClr val="FFFFFF"/>
                    </a:solidFill>
                  </a:tcPr>
                </a:tc>
                <a:tc>
                  <a:txBody>
                    <a:bodyPr wrap="square"/>
                    <a:lstStyle/>
                    <a:p>
                      <a:pPr algn="ctr"/>
                      <a:r>
                        <a:rPr sz="1200" b="0">
                          <a:solidFill>
                            <a:srgbClr val="334155"/>
                          </a:solidFill>
                          <a:latin typeface="Segoe UI"/>
                        </a:rPr>
                        <a:t>0.00%</a:t>
                      </a:r>
                    </a:p>
                  </a:txBody>
                  <a:tcPr marL="73152" marR="73152" marT="18288" marB="18288" anchor="ctr">
                    <a:solidFill>
                      <a:srgbClr val="FFFFFF"/>
                    </a:solidFill>
                  </a:tcPr>
                </a:tc>
              </a:tr>
            </a:tbl>
          </a:graphicData>
        </a:graphic>
      </p:graphicFrame>
      <p:sp>
        <p:nvSpPr>
          <p:cNvPr id="22" name="TextBox 21"/>
          <p:cNvSpPr txBox="1"/>
          <p:nvPr/>
        </p:nvSpPr>
        <p:spPr>
          <a:xfrm>
            <a:off x="822960" y="5897880"/>
            <a:ext cx="9631375" cy="502920"/>
          </a:xfrm>
          <a:prstGeom prst="rect">
            <a:avLst/>
          </a:prstGeom>
          <a:noFill/>
        </p:spPr>
        <p:txBody>
          <a:bodyPr wrap="square">
            <a:spAutoFit/>
          </a:bodyPr>
          <a:lstStyle/>
          <a:p>
            <a:pPr algn="l">
              <a:spcAft>
                <a:spcPts val="600"/>
              </a:spcAft>
            </a:pPr>
            <a:r>
              <a:rPr sz="1300" b="0" i="0">
                <a:solidFill>
                  <a:srgbClr val="334155"/>
                </a:solidFill>
                <a:latin typeface="Segoe UI"/>
              </a:rPr>
              <a:t>It sees exactly what deviates from benign flow statistics: slow-rate and volumetric denial of service. It is nearly blind to brute force, web attacks and bots, which are statistically ordinary at flow level, and which the supervised models cover.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VALIDATION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The isolated attack lab</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16</a:t>
            </a:r>
          </a:p>
        </p:txBody>
      </p:sp>
      <p:sp>
        <p:nvSpPr>
          <p:cNvPr id="6" name="Rounded Rectangle 5"/>
          <p:cNvSpPr/>
          <p:nvPr/>
        </p:nvSpPr>
        <p:spPr>
          <a:xfrm>
            <a:off x="822960" y="1828800"/>
            <a:ext cx="3210458" cy="16002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60" y="2011680"/>
            <a:ext cx="3210458" cy="365760"/>
          </a:xfrm>
          <a:prstGeom prst="rect">
            <a:avLst/>
          </a:prstGeom>
          <a:noFill/>
        </p:spPr>
        <p:txBody>
          <a:bodyPr wrap="square">
            <a:spAutoFit/>
          </a:bodyPr>
          <a:lstStyle/>
          <a:p>
            <a:pPr algn="ctr">
              <a:spcAft>
                <a:spcPts val="0"/>
              </a:spcAft>
            </a:pPr>
            <a:r>
              <a:rPr sz="1900" b="1" i="0">
                <a:solidFill>
                  <a:srgbClr val="0F172A"/>
                </a:solidFill>
                <a:latin typeface="Segoe UI"/>
              </a:rPr>
              <a:t>attacker</a:t>
            </a:r>
          </a:p>
        </p:txBody>
      </p:sp>
      <p:sp>
        <p:nvSpPr>
          <p:cNvPr id="8" name="TextBox 7"/>
          <p:cNvSpPr txBox="1"/>
          <p:nvPr/>
        </p:nvSpPr>
        <p:spPr>
          <a:xfrm>
            <a:off x="822960" y="2432304"/>
            <a:ext cx="3210458" cy="274320"/>
          </a:xfrm>
          <a:prstGeom prst="rect">
            <a:avLst/>
          </a:prstGeom>
          <a:noFill/>
        </p:spPr>
        <p:txBody>
          <a:bodyPr wrap="square">
            <a:spAutoFit/>
          </a:bodyPr>
          <a:lstStyle/>
          <a:p>
            <a:pPr algn="ctr">
              <a:spcAft>
                <a:spcPts val="0"/>
              </a:spcAft>
            </a:pPr>
            <a:r>
              <a:rPr sz="1200" b="0" i="0">
                <a:solidFill>
                  <a:srgbClr val="0EA5E9"/>
                </a:solidFill>
                <a:latin typeface="Segoe UI"/>
              </a:rPr>
              <a:t>10.77.0.66</a:t>
            </a:r>
          </a:p>
        </p:txBody>
      </p:sp>
      <p:sp>
        <p:nvSpPr>
          <p:cNvPr id="9" name="TextBox 8"/>
          <p:cNvSpPr txBox="1"/>
          <p:nvPr/>
        </p:nvSpPr>
        <p:spPr>
          <a:xfrm>
            <a:off x="822960" y="2761488"/>
            <a:ext cx="3210458" cy="548640"/>
          </a:xfrm>
          <a:prstGeom prst="rect">
            <a:avLst/>
          </a:prstGeom>
          <a:noFill/>
        </p:spPr>
        <p:txBody>
          <a:bodyPr wrap="square">
            <a:spAutoFit/>
          </a:bodyPr>
          <a:lstStyle/>
          <a:p>
            <a:pPr algn="ctr">
              <a:spcAft>
                <a:spcPts val="0"/>
              </a:spcAft>
            </a:pPr>
            <a:r>
              <a:rPr sz="1200" b="0" i="0">
                <a:solidFill>
                  <a:srgbClr val="64748B"/>
                </a:solidFill>
                <a:latin typeface="Segoe UI"/>
              </a:rPr>
              <a:t>nmap, hping3,
slowhttptest, hydra</a:t>
            </a:r>
          </a:p>
        </p:txBody>
      </p:sp>
      <p:sp>
        <p:nvSpPr>
          <p:cNvPr id="10" name="Rounded Rectangle 9"/>
          <p:cNvSpPr/>
          <p:nvPr/>
        </p:nvSpPr>
        <p:spPr>
          <a:xfrm>
            <a:off x="4490618" y="1828800"/>
            <a:ext cx="3210458" cy="16002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490618" y="2011680"/>
            <a:ext cx="3210458" cy="365760"/>
          </a:xfrm>
          <a:prstGeom prst="rect">
            <a:avLst/>
          </a:prstGeom>
          <a:noFill/>
        </p:spPr>
        <p:txBody>
          <a:bodyPr wrap="square">
            <a:spAutoFit/>
          </a:bodyPr>
          <a:lstStyle/>
          <a:p>
            <a:pPr algn="ctr">
              <a:spcAft>
                <a:spcPts val="0"/>
              </a:spcAft>
            </a:pPr>
            <a:r>
              <a:rPr sz="1900" b="1" i="0">
                <a:solidFill>
                  <a:srgbClr val="0F172A"/>
                </a:solidFill>
                <a:latin typeface="Segoe UI"/>
              </a:rPr>
              <a:t>victim</a:t>
            </a:r>
          </a:p>
        </p:txBody>
      </p:sp>
      <p:sp>
        <p:nvSpPr>
          <p:cNvPr id="12" name="TextBox 11"/>
          <p:cNvSpPr txBox="1"/>
          <p:nvPr/>
        </p:nvSpPr>
        <p:spPr>
          <a:xfrm>
            <a:off x="4490618" y="2432304"/>
            <a:ext cx="3210458" cy="274320"/>
          </a:xfrm>
          <a:prstGeom prst="rect">
            <a:avLst/>
          </a:prstGeom>
          <a:noFill/>
        </p:spPr>
        <p:txBody>
          <a:bodyPr wrap="square">
            <a:spAutoFit/>
          </a:bodyPr>
          <a:lstStyle/>
          <a:p>
            <a:pPr algn="ctr">
              <a:spcAft>
                <a:spcPts val="0"/>
              </a:spcAft>
            </a:pPr>
            <a:r>
              <a:rPr sz="1200" b="0" i="0">
                <a:solidFill>
                  <a:srgbClr val="0EA5E9"/>
                </a:solidFill>
                <a:latin typeface="Segoe UI"/>
              </a:rPr>
              <a:t>10.77.0.10</a:t>
            </a:r>
          </a:p>
        </p:txBody>
      </p:sp>
      <p:sp>
        <p:nvSpPr>
          <p:cNvPr id="13" name="TextBox 12"/>
          <p:cNvSpPr txBox="1"/>
          <p:nvPr/>
        </p:nvSpPr>
        <p:spPr>
          <a:xfrm>
            <a:off x="4490618" y="2761488"/>
            <a:ext cx="3210458" cy="548640"/>
          </a:xfrm>
          <a:prstGeom prst="rect">
            <a:avLst/>
          </a:prstGeom>
          <a:noFill/>
        </p:spPr>
        <p:txBody>
          <a:bodyPr wrap="square">
            <a:spAutoFit/>
          </a:bodyPr>
          <a:lstStyle/>
          <a:p>
            <a:pPr algn="ctr">
              <a:spcAft>
                <a:spcPts val="0"/>
              </a:spcAft>
            </a:pPr>
            <a:r>
              <a:rPr sz="1200" b="0" i="0">
                <a:solidFill>
                  <a:srgbClr val="64748B"/>
                </a:solidFill>
                <a:latin typeface="Segoe UI"/>
              </a:rPr>
              <a:t>stock nginx
static page + /admin/</a:t>
            </a:r>
          </a:p>
        </p:txBody>
      </p:sp>
      <p:sp>
        <p:nvSpPr>
          <p:cNvPr id="14" name="Rounded Rectangle 13"/>
          <p:cNvSpPr/>
          <p:nvPr/>
        </p:nvSpPr>
        <p:spPr>
          <a:xfrm>
            <a:off x="8158276" y="1828800"/>
            <a:ext cx="3210458" cy="1600200"/>
          </a:xfrm>
          <a:prstGeom prst="round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158276" y="2011680"/>
            <a:ext cx="3210458" cy="365760"/>
          </a:xfrm>
          <a:prstGeom prst="rect">
            <a:avLst/>
          </a:prstGeom>
          <a:noFill/>
        </p:spPr>
        <p:txBody>
          <a:bodyPr wrap="square">
            <a:spAutoFit/>
          </a:bodyPr>
          <a:lstStyle/>
          <a:p>
            <a:pPr algn="ctr">
              <a:spcAft>
                <a:spcPts val="0"/>
              </a:spcAft>
            </a:pPr>
            <a:r>
              <a:rPr sz="1900" b="1" i="0">
                <a:solidFill>
                  <a:srgbClr val="FFFFFF"/>
                </a:solidFill>
                <a:latin typeface="Segoe UI"/>
              </a:rPr>
              <a:t>nids</a:t>
            </a:r>
          </a:p>
        </p:txBody>
      </p:sp>
      <p:sp>
        <p:nvSpPr>
          <p:cNvPr id="16" name="TextBox 15"/>
          <p:cNvSpPr txBox="1"/>
          <p:nvPr/>
        </p:nvSpPr>
        <p:spPr>
          <a:xfrm>
            <a:off x="8158276" y="2432304"/>
            <a:ext cx="3210458" cy="274320"/>
          </a:xfrm>
          <a:prstGeom prst="rect">
            <a:avLst/>
          </a:prstGeom>
          <a:noFill/>
        </p:spPr>
        <p:txBody>
          <a:bodyPr wrap="square">
            <a:spAutoFit/>
          </a:bodyPr>
          <a:lstStyle/>
          <a:p>
            <a:pPr algn="ctr">
              <a:spcAft>
                <a:spcPts val="0"/>
              </a:spcAft>
            </a:pPr>
            <a:r>
              <a:rPr sz="1200" b="0" i="0">
                <a:solidFill>
                  <a:srgbClr val="FFFFFF"/>
                </a:solidFill>
                <a:latin typeface="Segoe UI"/>
              </a:rPr>
              <a:t>shares victim namespace</a:t>
            </a:r>
          </a:p>
        </p:txBody>
      </p:sp>
      <p:sp>
        <p:nvSpPr>
          <p:cNvPr id="17" name="TextBox 16"/>
          <p:cNvSpPr txBox="1"/>
          <p:nvPr/>
        </p:nvSpPr>
        <p:spPr>
          <a:xfrm>
            <a:off x="8158276" y="2761488"/>
            <a:ext cx="3210458" cy="548640"/>
          </a:xfrm>
          <a:prstGeom prst="rect">
            <a:avLst/>
          </a:prstGeom>
          <a:noFill/>
        </p:spPr>
        <p:txBody>
          <a:bodyPr wrap="square">
            <a:spAutoFit/>
          </a:bodyPr>
          <a:lstStyle/>
          <a:p>
            <a:pPr algn="ctr">
              <a:spcAft>
                <a:spcPts val="0"/>
              </a:spcAft>
            </a:pPr>
            <a:r>
              <a:rPr sz="1200" b="0" i="0">
                <a:solidFill>
                  <a:srgbClr val="FFFFFF"/>
                </a:solidFill>
                <a:latin typeface="Segoe UI"/>
              </a:rPr>
              <a:t>capture, detection,
iptables response</a:t>
            </a:r>
          </a:p>
        </p:txBody>
      </p:sp>
      <p:sp>
        <p:nvSpPr>
          <p:cNvPr id="18" name="TextBox 17"/>
          <p:cNvSpPr txBox="1"/>
          <p:nvPr/>
        </p:nvSpPr>
        <p:spPr>
          <a:xfrm>
            <a:off x="822960" y="3703320"/>
            <a:ext cx="10545775" cy="365760"/>
          </a:xfrm>
          <a:prstGeom prst="rect">
            <a:avLst/>
          </a:prstGeom>
          <a:noFill/>
        </p:spPr>
        <p:txBody>
          <a:bodyPr wrap="square">
            <a:spAutoFit/>
          </a:bodyPr>
          <a:lstStyle/>
          <a:p>
            <a:pPr algn="l">
              <a:spcAft>
                <a:spcPts val="600"/>
              </a:spcAft>
            </a:pPr>
            <a:r>
              <a:rPr sz="1600" b="1" i="0">
                <a:solidFill>
                  <a:srgbClr val="0F172A"/>
                </a:solidFill>
                <a:latin typeface="Segoe UI"/>
              </a:rPr>
              <a:t>Containment, by construction</a:t>
            </a:r>
          </a:p>
        </p:txBody>
      </p:sp>
      <p:sp>
        <p:nvSpPr>
          <p:cNvPr id="19" name="TextBox 18"/>
          <p:cNvSpPr txBox="1"/>
          <p:nvPr/>
        </p:nvSpPr>
        <p:spPr>
          <a:xfrm>
            <a:off x="822960" y="4114800"/>
            <a:ext cx="10545775" cy="2103120"/>
          </a:xfrm>
          <a:prstGeom prst="rect">
            <a:avLst/>
          </a:prstGeom>
          <a:noFill/>
        </p:spPr>
        <p:txBody>
          <a:bodyPr wrap="square">
            <a:spAutoFit/>
          </a:bodyPr>
          <a:lstStyle/>
          <a:p>
            <a:pPr algn="l">
              <a:spcAft>
                <a:spcPts val="800"/>
              </a:spcAft>
            </a:pPr>
            <a:r>
              <a:rPr sz="1400">
                <a:solidFill>
                  <a:srgbClr val="334155"/>
                </a:solidFill>
                <a:latin typeface="Segoe UI"/>
              </a:rPr>
              <a:t>•  The lab network is internal: no route to the internet, the campus network or the host.</a:t>
            </a:r>
          </a:p>
          <a:p>
            <a:pPr>
              <a:spcAft>
                <a:spcPts val="800"/>
              </a:spcAft>
            </a:pPr>
            <a:r>
              <a:rPr sz="1400">
                <a:solidFill>
                  <a:srgbClr val="334155"/>
                </a:solidFill>
                <a:latin typeface="Segoe UI"/>
              </a:rPr>
              <a:t>•  Published ports bind to 127.0.0.1 only.</a:t>
            </a:r>
          </a:p>
          <a:p>
            <a:pPr>
              <a:spcAft>
                <a:spcPts val="800"/>
              </a:spcAft>
            </a:pPr>
            <a:r>
              <a:rPr sz="1400">
                <a:solidFill>
                  <a:srgbClr val="334155"/>
                </a:solidFill>
                <a:latin typeface="Segoe UI"/>
              </a:rPr>
              <a:t>•  Every attack script refuses any target outside 10.77.0.0/24.</a:t>
            </a:r>
          </a:p>
          <a:p>
            <a:pPr>
              <a:spcAft>
                <a:spcPts val="800"/>
              </a:spcAft>
            </a:pPr>
            <a:r>
              <a:rPr sz="1400">
                <a:solidFill>
                  <a:srgbClr val="334155"/>
                </a:solidFill>
                <a:latin typeface="Segoe UI"/>
              </a:rPr>
              <a:t>•  The NIDS shares the victim's network namespace, so it sees every packet the victim sends or receives and its iptables rules apply to exactly that traffic. The host firewall is never touched.</a:t>
            </a:r>
          </a:p>
        </p:txBody>
      </p:sp>
      <p:sp>
        <p:nvSpPr>
          <p:cNvPr id="20" name="Rounded Rectangle 19"/>
          <p:cNvSpPr/>
          <p:nvPr/>
        </p:nvSpPr>
        <p:spPr>
          <a:xfrm>
            <a:off x="822960" y="5760720"/>
            <a:ext cx="10545775" cy="658368"/>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51560" y="5897880"/>
            <a:ext cx="10088575" cy="457200"/>
          </a:xfrm>
          <a:prstGeom prst="rect">
            <a:avLst/>
          </a:prstGeom>
          <a:noFill/>
        </p:spPr>
        <p:txBody>
          <a:bodyPr wrap="square">
            <a:spAutoFit/>
          </a:bodyPr>
          <a:lstStyle/>
          <a:p>
            <a:pPr algn="l">
              <a:spcAft>
                <a:spcPts val="600"/>
              </a:spcAft>
            </a:pPr>
            <a:r>
              <a:rPr sz="1400" b="0" i="0">
                <a:solidFill>
                  <a:srgbClr val="0F172A"/>
                </a:solidFill>
                <a:latin typeface="Segoe UI"/>
              </a:rPr>
              <a:t>On a real network this is a monitoring host on a switch SPAN port plus a firewall that enforces the decision. The detection logic is identical; only the enforcement point differs.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VALIDATION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Enterprise topology (Cisco Packet Tracer)</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17</a:t>
            </a:r>
          </a:p>
        </p:txBody>
      </p:sp>
      <p:sp>
        <p:nvSpPr>
          <p:cNvPr id="6" name="TextBox 5"/>
          <p:cNvSpPr txBox="1"/>
          <p:nvPr/>
        </p:nvSpPr>
        <p:spPr>
          <a:xfrm>
            <a:off x="822960" y="1645920"/>
            <a:ext cx="10545775" cy="365760"/>
          </a:xfrm>
          <a:prstGeom prst="rect">
            <a:avLst/>
          </a:prstGeom>
          <a:noFill/>
        </p:spPr>
        <p:txBody>
          <a:bodyPr wrap="square">
            <a:spAutoFit/>
          </a:bodyPr>
          <a:lstStyle/>
          <a:p>
            <a:pPr algn="l">
              <a:spcAft>
                <a:spcPts val="600"/>
              </a:spcAft>
            </a:pPr>
            <a:r>
              <a:rPr sz="1400" b="0" i="0">
                <a:solidFill>
                  <a:srgbClr val="64748B"/>
                </a:solidFill>
                <a:latin typeface="Segoe UI"/>
              </a:rPr>
              <a:t>Where Netra would sit in a small enterprise network, and how the lab maps onto it.</a:t>
            </a:r>
          </a:p>
        </p:txBody>
      </p:sp>
      <p:sp>
        <p:nvSpPr>
          <p:cNvPr id="7" name="Rounded Rectangle 6"/>
          <p:cNvSpPr/>
          <p:nvPr/>
        </p:nvSpPr>
        <p:spPr>
          <a:xfrm>
            <a:off x="822960" y="2103120"/>
            <a:ext cx="5800176" cy="265176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l"/>
            <a:r>
              <a:rPr sz="1150">
                <a:solidFill>
                  <a:srgbClr val="0F172A"/>
                </a:solidFill>
                <a:latin typeface="Consolas"/>
              </a:rPr>
              <a:t>  [Internet PC]  external attacker
        |
  [R-EDGE  ISR4331]  203.0.113.2 / 10.0.0.1
        |
  [FW  ASA 5506-X]   dmz 172.16.10.1  |  inside 192.168.10.1
        |                              |
  [SW-DMZ 2960]                  [SW-CORE 2960]
    |        |                      |        |
  [WEB]   [NIDS]                  [PC1]    [PC2]
  .10     SPAN destination, no IP on the sniffing port</a:t>
            </a:r>
          </a:p>
        </p:txBody>
      </p:sp>
      <p:graphicFrame>
        <p:nvGraphicFramePr>
          <p:cNvPr id="8" name="Table 7"/>
          <p:cNvGraphicFramePr>
            <a:graphicFrameLocks noGrp="1"/>
          </p:cNvGraphicFramePr>
          <p:nvPr/>
        </p:nvGraphicFramePr>
        <p:xfrm>
          <a:off x="6988896" y="2103120"/>
          <a:ext cx="4379838" cy="2633472"/>
        </p:xfrm>
        <a:graphic>
          <a:graphicData uri="http://schemas.openxmlformats.org/drawingml/2006/table">
            <a:tbl>
              <a:tblPr firstRow="1" bandRow="1">
                <a:tableStyleId>{5C22544A-7EE6-4342-B048-85BDC9FD1C3A}</a:tableStyleId>
              </a:tblPr>
              <a:tblGrid>
                <a:gridCol w="2189919"/>
                <a:gridCol w="2189919"/>
              </a:tblGrid>
              <a:tr h="438912">
                <a:tc>
                  <a:txBody>
                    <a:bodyPr wrap="square"/>
                    <a:lstStyle/>
                    <a:p>
                      <a:pPr algn="l"/>
                      <a:r>
                        <a:rPr sz="1200" b="1">
                          <a:solidFill>
                            <a:srgbClr val="FFFFFF"/>
                          </a:solidFill>
                          <a:latin typeface="Segoe UI"/>
                        </a:rPr>
                        <a:t>Packet Tracer</a:t>
                      </a:r>
                    </a:p>
                  </a:txBody>
                  <a:tcPr marL="73152" marR="73152" marT="18288" marB="18288" anchor="ctr">
                    <a:solidFill>
                      <a:srgbClr val="0F172A"/>
                    </a:solidFill>
                  </a:tcPr>
                </a:tc>
                <a:tc>
                  <a:txBody>
                    <a:bodyPr wrap="square"/>
                    <a:lstStyle/>
                    <a:p>
                      <a:pPr algn="ctr"/>
                      <a:r>
                        <a:rPr sz="1200" b="1">
                          <a:solidFill>
                            <a:srgbClr val="FFFFFF"/>
                          </a:solidFill>
                          <a:latin typeface="Segoe UI"/>
                        </a:rPr>
                        <a:t>Docker lab</a:t>
                      </a:r>
                    </a:p>
                  </a:txBody>
                  <a:tcPr marL="73152" marR="73152" marT="18288" marB="18288" anchor="ctr">
                    <a:solidFill>
                      <a:srgbClr val="0F172A"/>
                    </a:solidFill>
                  </a:tcPr>
                </a:tc>
              </a:tr>
              <a:tr h="438912">
                <a:tc>
                  <a:txBody>
                    <a:bodyPr wrap="square"/>
                    <a:lstStyle/>
                    <a:p>
                      <a:pPr algn="l"/>
                      <a:r>
                        <a:rPr sz="1150" b="0">
                          <a:solidFill>
                            <a:srgbClr val="334155"/>
                          </a:solidFill>
                          <a:latin typeface="Segoe UI"/>
                        </a:rPr>
                        <a:t>Internet PC 203.0.113.10</a:t>
                      </a:r>
                    </a:p>
                  </a:txBody>
                  <a:tcPr marL="73152" marR="73152" marT="18288" marB="18288" anchor="ctr">
                    <a:solidFill>
                      <a:srgbClr val="FFFFFF"/>
                    </a:solidFill>
                  </a:tcPr>
                </a:tc>
                <a:tc>
                  <a:txBody>
                    <a:bodyPr wrap="square"/>
                    <a:lstStyle/>
                    <a:p>
                      <a:pPr algn="ctr"/>
                      <a:r>
                        <a:rPr sz="1150" b="0">
                          <a:solidFill>
                            <a:srgbClr val="334155"/>
                          </a:solidFill>
                          <a:latin typeface="Segoe UI"/>
                        </a:rPr>
                        <a:t>attacker 10.77.0.66</a:t>
                      </a:r>
                    </a:p>
                  </a:txBody>
                  <a:tcPr marL="73152" marR="73152" marT="18288" marB="18288" anchor="ctr">
                    <a:solidFill>
                      <a:srgbClr val="FFFFFF"/>
                    </a:solidFill>
                  </a:tcPr>
                </a:tc>
              </a:tr>
              <a:tr h="438912">
                <a:tc>
                  <a:txBody>
                    <a:bodyPr wrap="square"/>
                    <a:lstStyle/>
                    <a:p>
                      <a:pPr algn="l"/>
                      <a:r>
                        <a:rPr sz="1150" b="0">
                          <a:solidFill>
                            <a:srgbClr val="334155"/>
                          </a:solidFill>
                          <a:latin typeface="Segoe UI"/>
                        </a:rPr>
                        <a:t>WEB server in DMZ</a:t>
                      </a:r>
                    </a:p>
                  </a:txBody>
                  <a:tcPr marL="73152" marR="73152" marT="18288" marB="18288" anchor="ctr">
                    <a:solidFill>
                      <a:srgbClr val="F1F5F9"/>
                    </a:solidFill>
                  </a:tcPr>
                </a:tc>
                <a:tc>
                  <a:txBody>
                    <a:bodyPr wrap="square"/>
                    <a:lstStyle/>
                    <a:p>
                      <a:pPr algn="ctr"/>
                      <a:r>
                        <a:rPr sz="1150" b="0">
                          <a:solidFill>
                            <a:srgbClr val="334155"/>
                          </a:solidFill>
                          <a:latin typeface="Segoe UI"/>
                        </a:rPr>
                        <a:t>victim 10.77.0.10 (nginx)</a:t>
                      </a:r>
                    </a:p>
                  </a:txBody>
                  <a:tcPr marL="73152" marR="73152" marT="18288" marB="18288" anchor="ctr">
                    <a:solidFill>
                      <a:srgbClr val="F1F5F9"/>
                    </a:solidFill>
                  </a:tcPr>
                </a:tc>
              </a:tr>
              <a:tr h="438912">
                <a:tc>
                  <a:txBody>
                    <a:bodyPr wrap="square"/>
                    <a:lstStyle/>
                    <a:p>
                      <a:pPr algn="l"/>
                      <a:r>
                        <a:rPr sz="1150" b="0">
                          <a:solidFill>
                            <a:srgbClr val="334155"/>
                          </a:solidFill>
                          <a:latin typeface="Segoe UI"/>
                        </a:rPr>
                        <a:t>NIDS on SPAN port</a:t>
                      </a:r>
                    </a:p>
                  </a:txBody>
                  <a:tcPr marL="73152" marR="73152" marT="18288" marB="18288" anchor="ctr">
                    <a:solidFill>
                      <a:srgbClr val="FFFFFF"/>
                    </a:solidFill>
                  </a:tcPr>
                </a:tc>
                <a:tc>
                  <a:txBody>
                    <a:bodyPr wrap="square"/>
                    <a:lstStyle/>
                    <a:p>
                      <a:pPr algn="ctr"/>
                      <a:r>
                        <a:rPr sz="1150" b="0">
                          <a:solidFill>
                            <a:srgbClr val="334155"/>
                          </a:solidFill>
                          <a:latin typeface="Segoe UI"/>
                        </a:rPr>
                        <a:t>nids sharing victim namespace</a:t>
                      </a:r>
                    </a:p>
                  </a:txBody>
                  <a:tcPr marL="73152" marR="73152" marT="18288" marB="18288" anchor="ctr">
                    <a:solidFill>
                      <a:srgbClr val="FFFFFF"/>
                    </a:solidFill>
                  </a:tcPr>
                </a:tc>
              </a:tr>
              <a:tr h="438912">
                <a:tc>
                  <a:txBody>
                    <a:bodyPr wrap="square"/>
                    <a:lstStyle/>
                    <a:p>
                      <a:pPr algn="l"/>
                      <a:r>
                        <a:rPr sz="1150" b="0">
                          <a:solidFill>
                            <a:srgbClr val="334155"/>
                          </a:solidFill>
                          <a:latin typeface="Segoe UI"/>
                        </a:rPr>
                        <a:t>Firewall deny rule</a:t>
                      </a:r>
                    </a:p>
                  </a:txBody>
                  <a:tcPr marL="73152" marR="73152" marT="18288" marB="18288" anchor="ctr">
                    <a:solidFill>
                      <a:srgbClr val="F1F5F9"/>
                    </a:solidFill>
                  </a:tcPr>
                </a:tc>
                <a:tc>
                  <a:txBody>
                    <a:bodyPr wrap="square"/>
                    <a:lstStyle/>
                    <a:p>
                      <a:pPr algn="ctr"/>
                      <a:r>
                        <a:rPr sz="1150" b="0">
                          <a:solidFill>
                            <a:srgbClr val="334155"/>
                          </a:solidFill>
                          <a:latin typeface="Segoe UI"/>
                        </a:rPr>
                        <a:t>iptables NETRA chain</a:t>
                      </a:r>
                    </a:p>
                  </a:txBody>
                  <a:tcPr marL="73152" marR="73152" marT="18288" marB="18288" anchor="ctr">
                    <a:solidFill>
                      <a:srgbClr val="F1F5F9"/>
                    </a:solidFill>
                  </a:tcPr>
                </a:tc>
              </a:tr>
              <a:tr h="438912">
                <a:tc>
                  <a:txBody>
                    <a:bodyPr wrap="square"/>
                    <a:lstStyle/>
                    <a:p>
                      <a:pPr algn="l"/>
                      <a:r>
                        <a:rPr sz="1150" b="0">
                          <a:solidFill>
                            <a:srgbClr val="334155"/>
                          </a:solidFill>
                          <a:latin typeface="Segoe UI"/>
                        </a:rPr>
                        <a:t>DMZ switch, VLAN 10</a:t>
                      </a:r>
                    </a:p>
                  </a:txBody>
                  <a:tcPr marL="73152" marR="73152" marT="18288" marB="18288" anchor="ctr">
                    <a:solidFill>
                      <a:srgbClr val="FFFFFF"/>
                    </a:solidFill>
                  </a:tcPr>
                </a:tc>
                <a:tc>
                  <a:txBody>
                    <a:bodyPr wrap="square"/>
                    <a:lstStyle/>
                    <a:p>
                      <a:pPr algn="ctr"/>
                      <a:r>
                        <a:rPr sz="1150" b="0">
                          <a:solidFill>
                            <a:srgbClr val="334155"/>
                          </a:solidFill>
                          <a:latin typeface="Segoe UI"/>
                        </a:rPr>
                        <a:t>internal network 10.77.0.0/24</a:t>
                      </a:r>
                    </a:p>
                  </a:txBody>
                  <a:tcPr marL="73152" marR="73152" marT="18288" marB="18288" anchor="ctr">
                    <a:solidFill>
                      <a:srgbClr val="FFFFFF"/>
                    </a:solidFill>
                  </a:tcPr>
                </a:tc>
              </a:tr>
            </a:tbl>
          </a:graphicData>
        </a:graphic>
      </p:graphicFrame>
      <p:sp>
        <p:nvSpPr>
          <p:cNvPr id="9" name="Rounded Rectangle 8"/>
          <p:cNvSpPr/>
          <p:nvPr/>
        </p:nvSpPr>
        <p:spPr>
          <a:xfrm>
            <a:off x="822960" y="5029200"/>
            <a:ext cx="10545775" cy="100584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51560" y="5175504"/>
            <a:ext cx="10088575" cy="777240"/>
          </a:xfrm>
          <a:prstGeom prst="rect">
            <a:avLst/>
          </a:prstGeom>
          <a:noFill/>
        </p:spPr>
        <p:txBody>
          <a:bodyPr wrap="square">
            <a:spAutoFit/>
          </a:bodyPr>
          <a:lstStyle/>
          <a:p>
            <a:pPr algn="l">
              <a:spcAft>
                <a:spcPts val="600"/>
              </a:spcAft>
            </a:pPr>
            <a:r>
              <a:rPr sz="1300" b="1" i="0">
                <a:solidFill>
                  <a:srgbClr val="0EA5E9"/>
                </a:solidFill>
                <a:latin typeface="Segoe UI"/>
              </a:rPr>
              <a:t>One honest difference</a:t>
            </a:r>
          </a:p>
          <a:p>
            <a:pPr>
              <a:spcAft>
                <a:spcPts val="600"/>
              </a:spcAft>
            </a:pPr>
            <a:r>
              <a:rPr sz="1400" b="0" i="0">
                <a:solidFill>
                  <a:srgbClr val="0F172A"/>
                </a:solidFill>
                <a:latin typeface="Segoe UI"/>
              </a:rPr>
              <a:t>On a real network a SPAN-port NIDS is passive and asks the firewall to block through an API. In the lab it shares the server's namespace and applies the block itself. Same detection, different enforcement point.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VALIDATION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Live validation: four real attacks</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18</a:t>
            </a:r>
          </a:p>
        </p:txBody>
      </p:sp>
      <p:sp>
        <p:nvSpPr>
          <p:cNvPr id="6" name="TextBox 5"/>
          <p:cNvSpPr txBox="1"/>
          <p:nvPr/>
        </p:nvSpPr>
        <p:spPr>
          <a:xfrm>
            <a:off x="822960" y="1664208"/>
            <a:ext cx="10545775" cy="365760"/>
          </a:xfrm>
          <a:prstGeom prst="rect">
            <a:avLst/>
          </a:prstGeom>
          <a:noFill/>
        </p:spPr>
        <p:txBody>
          <a:bodyPr wrap="square">
            <a:spAutoFit/>
          </a:bodyPr>
          <a:lstStyle/>
          <a:p>
            <a:pPr algn="l">
              <a:spcAft>
                <a:spcPts val="600"/>
              </a:spcAft>
            </a:pPr>
            <a:r>
              <a:rPr sz="1400" b="0" i="0">
                <a:solidFill>
                  <a:srgbClr val="64748B"/>
                </a:solidFill>
                <a:latin typeface="Segoe UI"/>
              </a:rPr>
              <a:t>Run from the attacker container against the victim, with the real iptables backend enabled.</a:t>
            </a:r>
          </a:p>
        </p:txBody>
      </p:sp>
      <p:graphicFrame>
        <p:nvGraphicFramePr>
          <p:cNvPr id="7" name="Table 6"/>
          <p:cNvGraphicFramePr>
            <a:graphicFrameLocks noGrp="1"/>
          </p:cNvGraphicFramePr>
          <p:nvPr/>
        </p:nvGraphicFramePr>
        <p:xfrm>
          <a:off x="822960" y="2148840"/>
          <a:ext cx="10545774" cy="2414016"/>
        </p:xfrm>
        <a:graphic>
          <a:graphicData uri="http://schemas.openxmlformats.org/drawingml/2006/table">
            <a:tbl>
              <a:tblPr firstRow="1" bandRow="1">
                <a:tableStyleId>{5C22544A-7EE6-4342-B048-85BDC9FD1C3A}</a:tableStyleId>
              </a:tblPr>
              <a:tblGrid>
                <a:gridCol w="3163732"/>
                <a:gridCol w="2109155"/>
                <a:gridCol w="2952817"/>
                <a:gridCol w="2320070"/>
              </a:tblGrid>
              <a:tr h="402336">
                <a:tc>
                  <a:txBody>
                    <a:bodyPr wrap="square"/>
                    <a:lstStyle/>
                    <a:p>
                      <a:pPr algn="l"/>
                      <a:r>
                        <a:rPr sz="1300" b="1">
                          <a:solidFill>
                            <a:srgbClr val="FFFFFF"/>
                          </a:solidFill>
                          <a:latin typeface="Segoe UI"/>
                        </a:rPr>
                        <a:t>Attack tool</a:t>
                      </a:r>
                    </a:p>
                  </a:txBody>
                  <a:tcPr marL="73152" marR="73152" marT="18288" marB="18288" anchor="ctr">
                    <a:solidFill>
                      <a:srgbClr val="0F172A"/>
                    </a:solidFill>
                  </a:tcPr>
                </a:tc>
                <a:tc>
                  <a:txBody>
                    <a:bodyPr wrap="square"/>
                    <a:lstStyle/>
                    <a:p>
                      <a:pPr algn="ctr"/>
                      <a:r>
                        <a:rPr sz="1300" b="1">
                          <a:solidFill>
                            <a:srgbClr val="FFFFFF"/>
                          </a:solidFill>
                          <a:latin typeface="Segoe UI"/>
                        </a:rPr>
                        <a:t>Alert raised</a:t>
                      </a:r>
                    </a:p>
                  </a:txBody>
                  <a:tcPr marL="73152" marR="73152" marT="18288" marB="18288" anchor="ctr">
                    <a:solidFill>
                      <a:srgbClr val="0F172A"/>
                    </a:solidFill>
                  </a:tcPr>
                </a:tc>
                <a:tc>
                  <a:txBody>
                    <a:bodyPr wrap="square"/>
                    <a:lstStyle/>
                    <a:p>
                      <a:pPr algn="ctr"/>
                      <a:r>
                        <a:rPr sz="1300" b="1">
                          <a:solidFill>
                            <a:srgbClr val="FFFFFF"/>
                          </a:solidFill>
                          <a:latin typeface="Segoe UI"/>
                        </a:rPr>
                        <a:t>Detector</a:t>
                      </a:r>
                    </a:p>
                  </a:txBody>
                  <a:tcPr marL="73152" marR="73152" marT="18288" marB="18288" anchor="ctr">
                    <a:solidFill>
                      <a:srgbClr val="0F172A"/>
                    </a:solidFill>
                  </a:tcPr>
                </a:tc>
                <a:tc>
                  <a:txBody>
                    <a:bodyPr wrap="square"/>
                    <a:lstStyle/>
                    <a:p>
                      <a:pPr algn="ctr"/>
                      <a:r>
                        <a:rPr sz="1300" b="1">
                          <a:solidFill>
                            <a:srgbClr val="FFFFFF"/>
                          </a:solidFill>
                          <a:latin typeface="Segoe UI"/>
                        </a:rPr>
                        <a:t>Response</a:t>
                      </a:r>
                    </a:p>
                  </a:txBody>
                  <a:tcPr marL="73152" marR="73152" marT="18288" marB="18288" anchor="ctr">
                    <a:solidFill>
                      <a:srgbClr val="0F172A"/>
                    </a:solidFill>
                  </a:tcPr>
                </a:tc>
              </a:tr>
              <a:tr h="402336">
                <a:tc>
                  <a:txBody>
                    <a:bodyPr wrap="square"/>
                    <a:lstStyle/>
                    <a:p>
                      <a:pPr algn="l"/>
                      <a:r>
                        <a:rPr sz="1300" b="0">
                          <a:solidFill>
                            <a:srgbClr val="334155"/>
                          </a:solidFill>
                          <a:latin typeface="Segoe UI"/>
                        </a:rPr>
                        <a:t>nmap SYN scan</a:t>
                      </a:r>
                    </a:p>
                  </a:txBody>
                  <a:tcPr marL="73152" marR="73152" marT="18288" marB="18288" anchor="ctr">
                    <a:solidFill>
                      <a:srgbClr val="FFFFFF"/>
                    </a:solidFill>
                  </a:tcPr>
                </a:tc>
                <a:tc>
                  <a:txBody>
                    <a:bodyPr wrap="square"/>
                    <a:lstStyle/>
                    <a:p>
                      <a:pPr algn="ctr"/>
                      <a:r>
                        <a:rPr sz="1300" b="0">
                          <a:solidFill>
                            <a:srgbClr val="334155"/>
                          </a:solidFill>
                          <a:latin typeface="Segoe UI"/>
                        </a:rPr>
                        <a:t>PortScan</a:t>
                      </a:r>
                    </a:p>
                  </a:txBody>
                  <a:tcPr marL="73152" marR="73152" marT="18288" marB="18288" anchor="ctr">
                    <a:solidFill>
                      <a:srgbClr val="FFFFFF"/>
                    </a:solidFill>
                  </a:tcPr>
                </a:tc>
                <a:tc>
                  <a:txBody>
                    <a:bodyPr wrap="square"/>
                    <a:lstStyle/>
                    <a:p>
                      <a:pPr algn="ctr"/>
                      <a:r>
                        <a:rPr sz="1300" b="0">
                          <a:solidFill>
                            <a:srgbClr val="334155"/>
                          </a:solidFill>
                          <a:latin typeface="Segoe UI"/>
                        </a:rPr>
                        <a:t>signature:port_scan</a:t>
                      </a:r>
                    </a:p>
                  </a:txBody>
                  <a:tcPr marL="73152" marR="73152" marT="18288" marB="18288" anchor="ctr">
                    <a:solidFill>
                      <a:srgbClr val="FFFFFF"/>
                    </a:solidFill>
                  </a:tcPr>
                </a:tc>
                <a:tc>
                  <a:txBody>
                    <a:bodyPr wrap="square"/>
                    <a:lstStyle/>
                    <a:p>
                      <a:pPr algn="ctr"/>
                      <a:r>
                        <a:rPr sz="1300" b="0">
                          <a:solidFill>
                            <a:srgbClr val="334155"/>
                          </a:solidFill>
                          <a:latin typeface="Segoe UI"/>
                        </a:rPr>
                        <a:t>source blocked</a:t>
                      </a:r>
                    </a:p>
                  </a:txBody>
                  <a:tcPr marL="73152" marR="73152" marT="18288" marB="18288" anchor="ctr">
                    <a:solidFill>
                      <a:srgbClr val="FFFFFF"/>
                    </a:solidFill>
                  </a:tcPr>
                </a:tc>
              </a:tr>
              <a:tr h="402336">
                <a:tc>
                  <a:txBody>
                    <a:bodyPr wrap="square"/>
                    <a:lstStyle/>
                    <a:p>
                      <a:pPr algn="l"/>
                      <a:r>
                        <a:rPr sz="1300" b="0">
                          <a:solidFill>
                            <a:srgbClr val="334155"/>
                          </a:solidFill>
                          <a:latin typeface="Segoe UI"/>
                        </a:rPr>
                        <a:t>hping3 SYN flood</a:t>
                      </a:r>
                    </a:p>
                  </a:txBody>
                  <a:tcPr marL="73152" marR="73152" marT="18288" marB="18288" anchor="ctr">
                    <a:solidFill>
                      <a:srgbClr val="F1F5F9"/>
                    </a:solidFill>
                  </a:tcPr>
                </a:tc>
                <a:tc>
                  <a:txBody>
                    <a:bodyPr wrap="square"/>
                    <a:lstStyle/>
                    <a:p>
                      <a:pPr algn="ctr"/>
                      <a:r>
                        <a:rPr sz="1300" b="0">
                          <a:solidFill>
                            <a:srgbClr val="334155"/>
                          </a:solidFill>
                          <a:latin typeface="Segoe UI"/>
                        </a:rPr>
                        <a:t>DoS</a:t>
                      </a:r>
                    </a:p>
                  </a:txBody>
                  <a:tcPr marL="73152" marR="73152" marT="18288" marB="18288" anchor="ctr">
                    <a:solidFill>
                      <a:srgbClr val="F1F5F9"/>
                    </a:solidFill>
                  </a:tcPr>
                </a:tc>
                <a:tc>
                  <a:txBody>
                    <a:bodyPr wrap="square"/>
                    <a:lstStyle/>
                    <a:p>
                      <a:pPr algn="ctr"/>
                      <a:r>
                        <a:rPr sz="1300" b="0">
                          <a:solidFill>
                            <a:srgbClr val="334155"/>
                          </a:solidFill>
                          <a:latin typeface="Segoe UI"/>
                        </a:rPr>
                        <a:t>signature:syn_flood</a:t>
                      </a:r>
                    </a:p>
                  </a:txBody>
                  <a:tcPr marL="73152" marR="73152" marT="18288" marB="18288" anchor="ctr">
                    <a:solidFill>
                      <a:srgbClr val="F1F5F9"/>
                    </a:solidFill>
                  </a:tcPr>
                </a:tc>
                <a:tc>
                  <a:txBody>
                    <a:bodyPr wrap="square"/>
                    <a:lstStyle/>
                    <a:p>
                      <a:pPr algn="ctr"/>
                      <a:r>
                        <a:rPr sz="1300" b="0">
                          <a:solidFill>
                            <a:srgbClr val="334155"/>
                          </a:solidFill>
                          <a:latin typeface="Segoe UI"/>
                        </a:rPr>
                        <a:t>source blocked</a:t>
                      </a:r>
                    </a:p>
                  </a:txBody>
                  <a:tcPr marL="73152" marR="73152" marT="18288" marB="18288" anchor="ctr">
                    <a:solidFill>
                      <a:srgbClr val="F1F5F9"/>
                    </a:solidFill>
                  </a:tcPr>
                </a:tc>
              </a:tr>
              <a:tr h="402336">
                <a:tc>
                  <a:txBody>
                    <a:bodyPr wrap="square"/>
                    <a:lstStyle/>
                    <a:p>
                      <a:pPr algn="l"/>
                      <a:r>
                        <a:rPr sz="1300" b="0">
                          <a:solidFill>
                            <a:srgbClr val="334155"/>
                          </a:solidFill>
                          <a:latin typeface="Segoe UI"/>
                        </a:rPr>
                        <a:t>slowhttptest slow headers</a:t>
                      </a:r>
                    </a:p>
                  </a:txBody>
                  <a:tcPr marL="73152" marR="73152" marT="18288" marB="18288" anchor="ctr">
                    <a:solidFill>
                      <a:srgbClr val="FFFFFF"/>
                    </a:solidFill>
                  </a:tcPr>
                </a:tc>
                <a:tc>
                  <a:txBody>
                    <a:bodyPr wrap="square"/>
                    <a:lstStyle/>
                    <a:p>
                      <a:pPr algn="ctr"/>
                      <a:r>
                        <a:rPr sz="1300" b="0">
                          <a:solidFill>
                            <a:srgbClr val="334155"/>
                          </a:solidFill>
                          <a:latin typeface="Segoe UI"/>
                        </a:rPr>
                        <a:t>DoS-Slow</a:t>
                      </a:r>
                    </a:p>
                  </a:txBody>
                  <a:tcPr marL="73152" marR="73152" marT="18288" marB="18288" anchor="ctr">
                    <a:solidFill>
                      <a:srgbClr val="FFFFFF"/>
                    </a:solidFill>
                  </a:tcPr>
                </a:tc>
                <a:tc>
                  <a:txBody>
                    <a:bodyPr wrap="square"/>
                    <a:lstStyle/>
                    <a:p>
                      <a:pPr algn="ctr"/>
                      <a:r>
                        <a:rPr sz="1300" b="0">
                          <a:solidFill>
                            <a:srgbClr val="334155"/>
                          </a:solidFill>
                          <a:latin typeface="Segoe UI"/>
                        </a:rPr>
                        <a:t>signature:slow_dos</a:t>
                      </a:r>
                    </a:p>
                  </a:txBody>
                  <a:tcPr marL="73152" marR="73152" marT="18288" marB="18288" anchor="ctr">
                    <a:solidFill>
                      <a:srgbClr val="FFFFFF"/>
                    </a:solidFill>
                  </a:tcPr>
                </a:tc>
                <a:tc>
                  <a:txBody>
                    <a:bodyPr wrap="square"/>
                    <a:lstStyle/>
                    <a:p>
                      <a:pPr algn="ctr"/>
                      <a:r>
                        <a:rPr sz="1300" b="0">
                          <a:solidFill>
                            <a:srgbClr val="334155"/>
                          </a:solidFill>
                          <a:latin typeface="Segoe UI"/>
                        </a:rPr>
                        <a:t>source blocked</a:t>
                      </a:r>
                    </a:p>
                  </a:txBody>
                  <a:tcPr marL="73152" marR="73152" marT="18288" marB="18288" anchor="ctr">
                    <a:solidFill>
                      <a:srgbClr val="FFFFFF"/>
                    </a:solidFill>
                  </a:tcPr>
                </a:tc>
              </a:tr>
              <a:tr h="402336">
                <a:tc>
                  <a:txBody>
                    <a:bodyPr wrap="square"/>
                    <a:lstStyle/>
                    <a:p>
                      <a:pPr algn="l"/>
                      <a:r>
                        <a:rPr sz="1300" b="0">
                          <a:solidFill>
                            <a:srgbClr val="334155"/>
                          </a:solidFill>
                          <a:latin typeface="Segoe UI"/>
                        </a:rPr>
                        <a:t>hydra HTTP basic auth</a:t>
                      </a:r>
                    </a:p>
                  </a:txBody>
                  <a:tcPr marL="73152" marR="73152" marT="18288" marB="18288" anchor="ctr">
                    <a:solidFill>
                      <a:srgbClr val="F1F5F9"/>
                    </a:solidFill>
                  </a:tcPr>
                </a:tc>
                <a:tc>
                  <a:txBody>
                    <a:bodyPr wrap="square"/>
                    <a:lstStyle/>
                    <a:p>
                      <a:pPr algn="ctr"/>
                      <a:r>
                        <a:rPr sz="1300" b="0">
                          <a:solidFill>
                            <a:srgbClr val="334155"/>
                          </a:solidFill>
                          <a:latin typeface="Segoe UI"/>
                        </a:rPr>
                        <a:t>BruteForce</a:t>
                      </a:r>
                    </a:p>
                  </a:txBody>
                  <a:tcPr marL="73152" marR="73152" marT="18288" marB="18288" anchor="ctr">
                    <a:solidFill>
                      <a:srgbClr val="F1F5F9"/>
                    </a:solidFill>
                  </a:tcPr>
                </a:tc>
                <a:tc>
                  <a:txBody>
                    <a:bodyPr wrap="square"/>
                    <a:lstStyle/>
                    <a:p>
                      <a:pPr algn="ctr"/>
                      <a:r>
                        <a:rPr sz="1300" b="0">
                          <a:solidFill>
                            <a:srgbClr val="334155"/>
                          </a:solidFill>
                          <a:latin typeface="Segoe UI"/>
                        </a:rPr>
                        <a:t>signature:brute_force</a:t>
                      </a:r>
                    </a:p>
                  </a:txBody>
                  <a:tcPr marL="73152" marR="73152" marT="18288" marB="18288" anchor="ctr">
                    <a:solidFill>
                      <a:srgbClr val="F1F5F9"/>
                    </a:solidFill>
                  </a:tcPr>
                </a:tc>
                <a:tc>
                  <a:txBody>
                    <a:bodyPr wrap="square"/>
                    <a:lstStyle/>
                    <a:p>
                      <a:pPr algn="ctr"/>
                      <a:r>
                        <a:rPr sz="1300" b="0">
                          <a:solidFill>
                            <a:srgbClr val="334155"/>
                          </a:solidFill>
                          <a:latin typeface="Segoe UI"/>
                        </a:rPr>
                        <a:t>source blocked</a:t>
                      </a:r>
                    </a:p>
                  </a:txBody>
                  <a:tcPr marL="73152" marR="73152" marT="18288" marB="18288" anchor="ctr">
                    <a:solidFill>
                      <a:srgbClr val="F1F5F9"/>
                    </a:solidFill>
                  </a:tcPr>
                </a:tc>
              </a:tr>
              <a:tr h="402336">
                <a:tc>
                  <a:txBody>
                    <a:bodyPr wrap="square"/>
                    <a:lstStyle/>
                    <a:p>
                      <a:pPr algn="l"/>
                      <a:r>
                        <a:rPr sz="1300" b="1">
                          <a:solidFill>
                            <a:srgbClr val="0F172A"/>
                          </a:solidFill>
                          <a:latin typeface="Segoe UI"/>
                        </a:rPr>
                        <a:t>curl, ordinary browsing</a:t>
                      </a:r>
                    </a:p>
                  </a:txBody>
                  <a:tcPr marL="73152" marR="73152" marT="18288" marB="18288" anchor="ctr">
                    <a:solidFill>
                      <a:srgbClr val="FFFFFF"/>
                    </a:solidFill>
                  </a:tcPr>
                </a:tc>
                <a:tc>
                  <a:txBody>
                    <a:bodyPr wrap="square"/>
                    <a:lstStyle/>
                    <a:p>
                      <a:pPr algn="ctr"/>
                      <a:r>
                        <a:rPr sz="1300" b="1">
                          <a:solidFill>
                            <a:srgbClr val="0F172A"/>
                          </a:solidFill>
                          <a:latin typeface="Segoe UI"/>
                        </a:rPr>
                        <a:t>none</a:t>
                      </a:r>
                    </a:p>
                  </a:txBody>
                  <a:tcPr marL="73152" marR="73152" marT="18288" marB="18288" anchor="ctr">
                    <a:solidFill>
                      <a:srgbClr val="FFFFFF"/>
                    </a:solidFill>
                  </a:tcPr>
                </a:tc>
                <a:tc>
                  <a:txBody>
                    <a:bodyPr wrap="square"/>
                    <a:lstStyle/>
                    <a:p>
                      <a:pPr algn="ctr"/>
                      <a:r>
                        <a:rPr sz="1300" b="1">
                          <a:solidFill>
                            <a:srgbClr val="0F172A"/>
                          </a:solidFill>
                          <a:latin typeface="Segoe UI"/>
                        </a:rPr>
                        <a:t>n/a</a:t>
                      </a:r>
                    </a:p>
                  </a:txBody>
                  <a:tcPr marL="73152" marR="73152" marT="18288" marB="18288" anchor="ctr">
                    <a:solidFill>
                      <a:srgbClr val="FFFFFF"/>
                    </a:solidFill>
                  </a:tcPr>
                </a:tc>
                <a:tc>
                  <a:txBody>
                    <a:bodyPr wrap="square"/>
                    <a:lstStyle/>
                    <a:p>
                      <a:pPr algn="ctr"/>
                      <a:r>
                        <a:rPr sz="1300" b="1">
                          <a:solidFill>
                            <a:srgbClr val="0F172A"/>
                          </a:solidFill>
                          <a:latin typeface="Segoe UI"/>
                        </a:rPr>
                        <a:t>none</a:t>
                      </a:r>
                    </a:p>
                  </a:txBody>
                  <a:tcPr marL="73152" marR="73152" marT="18288" marB="18288" anchor="ctr">
                    <a:solidFill>
                      <a:srgbClr val="FFFFFF"/>
                    </a:solidFill>
                  </a:tcPr>
                </a:tc>
              </a:tr>
            </a:tbl>
          </a:graphicData>
        </a:graphic>
      </p:graphicFrame>
      <p:sp>
        <p:nvSpPr>
          <p:cNvPr id="8" name="TextBox 7"/>
          <p:cNvSpPr txBox="1"/>
          <p:nvPr/>
        </p:nvSpPr>
        <p:spPr>
          <a:xfrm>
            <a:off x="822960" y="4434840"/>
            <a:ext cx="10545775" cy="320040"/>
          </a:xfrm>
          <a:prstGeom prst="rect">
            <a:avLst/>
          </a:prstGeom>
          <a:noFill/>
        </p:spPr>
        <p:txBody>
          <a:bodyPr wrap="square">
            <a:spAutoFit/>
          </a:bodyPr>
          <a:lstStyle/>
          <a:p>
            <a:pPr algn="l">
              <a:spcAft>
                <a:spcPts val="600"/>
              </a:spcAft>
            </a:pPr>
            <a:r>
              <a:rPr sz="1600" b="1" i="0">
                <a:solidFill>
                  <a:srgbClr val="0F172A"/>
                </a:solidFill>
                <a:latin typeface="Segoe UI"/>
              </a:rPr>
              <a:t>Two observations worth recording</a:t>
            </a:r>
          </a:p>
        </p:txBody>
      </p:sp>
      <p:sp>
        <p:nvSpPr>
          <p:cNvPr id="9" name="TextBox 8"/>
          <p:cNvSpPr txBox="1"/>
          <p:nvPr/>
        </p:nvSpPr>
        <p:spPr>
          <a:xfrm>
            <a:off x="822960" y="4846320"/>
            <a:ext cx="10545775" cy="1371600"/>
          </a:xfrm>
          <a:prstGeom prst="rect">
            <a:avLst/>
          </a:prstGeom>
          <a:noFill/>
        </p:spPr>
        <p:txBody>
          <a:bodyPr wrap="square">
            <a:spAutoFit/>
          </a:bodyPr>
          <a:lstStyle/>
          <a:p>
            <a:pPr algn="l">
              <a:spcAft>
                <a:spcPts val="1000"/>
              </a:spcAft>
            </a:pPr>
            <a:r>
              <a:rPr sz="1400">
                <a:solidFill>
                  <a:srgbClr val="334155"/>
                </a:solidFill>
                <a:latin typeface="Segoe UI"/>
              </a:rPr>
              <a:t>•  The SYN flood's half-open connections also satisfy the slow-DoS rule and raise the autoencoder's error, so the flood produces several corroborating alerts. The intended syn_flood alert fires first. This is realistic behaviour, not a bug.</a:t>
            </a:r>
          </a:p>
          <a:p>
            <a:pPr>
              <a:spcAft>
                <a:spcPts val="1000"/>
              </a:spcAft>
            </a:pPr>
            <a:r>
              <a:rPr sz="1400">
                <a:solidFill>
                  <a:srgbClr val="334155"/>
                </a:solidFill>
                <a:latin typeface="Segoe UI"/>
              </a:rPr>
              <a:t>•  The slow HTTP attack genuinely exhausted nginx's connection pool, with slowhttptest reporting the service unavailable, while Netra detected it from the traffic pattern rather than from the victim's health. Detection did not depend on the victim being harmed.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VALIDATION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The operator's view</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19</a:t>
            </a:r>
          </a:p>
        </p:txBody>
      </p:sp>
      <p:sp>
        <p:nvSpPr>
          <p:cNvPr id="6" name="TextBox 5"/>
          <p:cNvSpPr txBox="1"/>
          <p:nvPr/>
        </p:nvSpPr>
        <p:spPr>
          <a:xfrm>
            <a:off x="822960" y="1645920"/>
            <a:ext cx="10545775" cy="365760"/>
          </a:xfrm>
          <a:prstGeom prst="rect">
            <a:avLst/>
          </a:prstGeom>
          <a:noFill/>
        </p:spPr>
        <p:txBody>
          <a:bodyPr wrap="square">
            <a:spAutoFit/>
          </a:bodyPr>
          <a:lstStyle/>
          <a:p>
            <a:pPr algn="l">
              <a:spcAft>
                <a:spcPts val="600"/>
              </a:spcAft>
            </a:pPr>
            <a:r>
              <a:rPr sz="1400" b="0" i="0">
                <a:solidFill>
                  <a:srgbClr val="64748B"/>
                </a:solidFill>
                <a:latin typeface="Segoe UI"/>
              </a:rPr>
              <a:t>A native PySide6 desktop application. The engine runs inside Docker; the app connects over WebSocket.</a:t>
            </a:r>
          </a:p>
        </p:txBody>
      </p:sp>
      <p:pic>
        <p:nvPicPr>
          <p:cNvPr id="7" name="Picture 6" descr="lab_1_connected.png"/>
          <p:cNvPicPr>
            <a:picLocks noChangeAspect="1"/>
          </p:cNvPicPr>
          <p:nvPr/>
        </p:nvPicPr>
        <p:blipFill>
          <a:blip r:embed="rId2"/>
          <a:stretch>
            <a:fillRect/>
          </a:stretch>
        </p:blipFill>
        <p:spPr>
          <a:xfrm>
            <a:off x="1105799" y="2148840"/>
            <a:ext cx="4524329" cy="2651760"/>
          </a:xfrm>
          <a:prstGeom prst="rect">
            <a:avLst/>
          </a:prstGeom>
        </p:spPr>
      </p:pic>
      <p:sp>
        <p:nvSpPr>
          <p:cNvPr id="8" name="TextBox 7"/>
          <p:cNvSpPr txBox="1"/>
          <p:nvPr/>
        </p:nvSpPr>
        <p:spPr>
          <a:xfrm>
            <a:off x="822960" y="4855464"/>
            <a:ext cx="5090007" cy="274320"/>
          </a:xfrm>
          <a:prstGeom prst="rect">
            <a:avLst/>
          </a:prstGeom>
          <a:noFill/>
        </p:spPr>
        <p:txBody>
          <a:bodyPr wrap="square">
            <a:spAutoFit/>
          </a:bodyPr>
          <a:lstStyle/>
          <a:p>
            <a:pPr algn="ctr">
              <a:spcAft>
                <a:spcPts val="600"/>
              </a:spcAft>
            </a:pPr>
            <a:r>
              <a:rPr sz="1100" b="0" i="1">
                <a:solidFill>
                  <a:srgbClr val="64748B"/>
                </a:solidFill>
                <a:latin typeface="Segoe UI"/>
              </a:rPr>
              <a:t>Connected: live traffic scored, no alerts on benign traffic</a:t>
            </a:r>
          </a:p>
        </p:txBody>
      </p:sp>
      <p:pic>
        <p:nvPicPr>
          <p:cNvPr id="9" name="Picture 8" descr="lab_2_blocked.png"/>
          <p:cNvPicPr>
            <a:picLocks noChangeAspect="1"/>
          </p:cNvPicPr>
          <p:nvPr/>
        </p:nvPicPr>
        <p:blipFill>
          <a:blip r:embed="rId3"/>
          <a:stretch>
            <a:fillRect/>
          </a:stretch>
        </p:blipFill>
        <p:spPr>
          <a:xfrm>
            <a:off x="6561566" y="2148840"/>
            <a:ext cx="4524329" cy="2651760"/>
          </a:xfrm>
          <a:prstGeom prst="rect">
            <a:avLst/>
          </a:prstGeom>
        </p:spPr>
      </p:pic>
      <p:sp>
        <p:nvSpPr>
          <p:cNvPr id="10" name="TextBox 9"/>
          <p:cNvSpPr txBox="1"/>
          <p:nvPr/>
        </p:nvSpPr>
        <p:spPr>
          <a:xfrm>
            <a:off x="6278727" y="4855464"/>
            <a:ext cx="5090007" cy="274320"/>
          </a:xfrm>
          <a:prstGeom prst="rect">
            <a:avLst/>
          </a:prstGeom>
          <a:noFill/>
        </p:spPr>
        <p:txBody>
          <a:bodyPr wrap="square">
            <a:spAutoFit/>
          </a:bodyPr>
          <a:lstStyle/>
          <a:p>
            <a:pPr algn="ctr">
              <a:spcAft>
                <a:spcPts val="600"/>
              </a:spcAft>
            </a:pPr>
            <a:r>
              <a:rPr sz="1100" b="0" i="1">
                <a:solidFill>
                  <a:srgbClr val="64748B"/>
                </a:solidFill>
                <a:latin typeface="Segoe UI"/>
              </a:rPr>
              <a:t>Attacker blocked, with a live countdown to expiry</a:t>
            </a:r>
          </a:p>
        </p:txBody>
      </p:sp>
      <p:sp>
        <p:nvSpPr>
          <p:cNvPr id="11" name="Rounded Rectangle 10"/>
          <p:cNvSpPr/>
          <p:nvPr/>
        </p:nvSpPr>
        <p:spPr>
          <a:xfrm>
            <a:off x="822960" y="5212080"/>
            <a:ext cx="10545775" cy="9144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51560" y="5349240"/>
            <a:ext cx="10088575" cy="685800"/>
          </a:xfrm>
          <a:prstGeom prst="rect">
            <a:avLst/>
          </a:prstGeom>
          <a:noFill/>
        </p:spPr>
        <p:txBody>
          <a:bodyPr wrap="square">
            <a:spAutoFit/>
          </a:bodyPr>
          <a:lstStyle/>
          <a:p>
            <a:pPr algn="l">
              <a:spcAft>
                <a:spcPts val="600"/>
              </a:spcAft>
            </a:pPr>
            <a:r>
              <a:rPr sz="1400" b="0" i="0">
                <a:solidFill>
                  <a:srgbClr val="0F172A"/>
                </a:solidFill>
                <a:latin typeface="Segoe UI"/>
              </a:rPr>
              <a:t>Alert feed with severity, alerted flows by attack type, traffic-rate chart, and blocked addresses with countdowns and per-address unblock buttons. The operator can always override the automated decision.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DISCUSSION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Key finding: an entire feature family is unusable</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20</a:t>
            </a:r>
          </a:p>
        </p:txBody>
      </p:sp>
      <p:sp>
        <p:nvSpPr>
          <p:cNvPr id="6" name="Rounded Rectangle 5"/>
          <p:cNvSpPr/>
          <p:nvPr/>
        </p:nvSpPr>
        <p:spPr>
          <a:xfrm>
            <a:off x="822960" y="1691640"/>
            <a:ext cx="10545775" cy="1024128"/>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97280" y="1828800"/>
            <a:ext cx="9997135" cy="822960"/>
          </a:xfrm>
          <a:prstGeom prst="rect">
            <a:avLst/>
          </a:prstGeom>
          <a:noFill/>
        </p:spPr>
        <p:txBody>
          <a:bodyPr wrap="square">
            <a:spAutoFit/>
          </a:bodyPr>
          <a:lstStyle/>
          <a:p>
            <a:pPr algn="l">
              <a:spcAft>
                <a:spcPts val="600"/>
              </a:spcAft>
            </a:pPr>
            <a:r>
              <a:rPr sz="1900" b="1" i="0">
                <a:solidFill>
                  <a:srgbClr val="FFFFFF"/>
                </a:solidFill>
                <a:latin typeface="Segoe UI"/>
              </a:rPr>
              <a:t>CIC-IDS2017's TCP flag counters are wrong.</a:t>
            </a:r>
          </a:p>
          <a:p>
            <a:pPr>
              <a:spcAft>
                <a:spcPts val="600"/>
              </a:spcAft>
            </a:pPr>
            <a:r>
              <a:rPr sz="1400" b="0" i="0">
                <a:solidFill>
                  <a:srgbClr val="CBD5E1"/>
                </a:solidFill>
                <a:latin typeface="Segoe UI"/>
              </a:rPr>
              <a:t>SYN Flag Count is 0 on every PortScan flow, although every such flow is by definition a SYN probe. FIN and PSH are near zero throughout, although ordinary TCP connections carry both.</a:t>
            </a:r>
          </a:p>
        </p:txBody>
      </p:sp>
      <p:sp>
        <p:nvSpPr>
          <p:cNvPr id="8" name="TextBox 7"/>
          <p:cNvSpPr txBox="1"/>
          <p:nvPr/>
        </p:nvSpPr>
        <p:spPr>
          <a:xfrm>
            <a:off x="822960" y="2926080"/>
            <a:ext cx="10545775" cy="320040"/>
          </a:xfrm>
          <a:prstGeom prst="rect">
            <a:avLst/>
          </a:prstGeom>
          <a:noFill/>
        </p:spPr>
        <p:txBody>
          <a:bodyPr wrap="square">
            <a:spAutoFit/>
          </a:bodyPr>
          <a:lstStyle/>
          <a:p>
            <a:pPr algn="l">
              <a:spcAft>
                <a:spcPts val="600"/>
              </a:spcAft>
            </a:pPr>
            <a:r>
              <a:rPr sz="1600" b="1" i="0">
                <a:solidFill>
                  <a:srgbClr val="0F172A"/>
                </a:solidFill>
                <a:latin typeface="Segoe UI"/>
              </a:rPr>
              <a:t>Why this matters more than it sounds</a:t>
            </a:r>
          </a:p>
        </p:txBody>
      </p:sp>
      <p:sp>
        <p:nvSpPr>
          <p:cNvPr id="9" name="TextBox 8"/>
          <p:cNvSpPr txBox="1"/>
          <p:nvPr/>
        </p:nvSpPr>
        <p:spPr>
          <a:xfrm>
            <a:off x="822960" y="3337560"/>
            <a:ext cx="10545775" cy="2880360"/>
          </a:xfrm>
          <a:prstGeom prst="rect">
            <a:avLst/>
          </a:prstGeom>
          <a:noFill/>
        </p:spPr>
        <p:txBody>
          <a:bodyPr wrap="square">
            <a:spAutoFit/>
          </a:bodyPr>
          <a:lstStyle/>
          <a:p>
            <a:pPr algn="l">
              <a:spcAft>
                <a:spcPts val="900"/>
              </a:spcAft>
            </a:pPr>
            <a:r>
              <a:rPr sz="1400">
                <a:solidFill>
                  <a:srgbClr val="334155"/>
                </a:solidFill>
                <a:latin typeface="Segoe UI"/>
              </a:rPr>
              <a:t>•  Models trained on these columns learn the extraction tool's bug, not a property of network traffic.</a:t>
            </a:r>
          </a:p>
          <a:p>
            <a:pPr>
              <a:spcAft>
                <a:spcPts val="900"/>
              </a:spcAft>
            </a:pPr>
            <a:r>
              <a:rPr sz="1400">
                <a:solidFill>
                  <a:srgbClr val="334155"/>
                </a:solidFill>
                <a:latin typeface="Segoe UI"/>
              </a:rPr>
              <a:t>•  Offline this is invisible: the test split contains the same bug, so the metrics look excellent.</a:t>
            </a:r>
          </a:p>
          <a:p>
            <a:pPr>
              <a:spcAft>
                <a:spcPts val="900"/>
              </a:spcAft>
            </a:pPr>
            <a:r>
              <a:rPr sz="1400">
                <a:solidFill>
                  <a:srgbClr val="B91C1C"/>
                </a:solidFill>
                <a:latin typeface="Segoe UI"/>
              </a:rPr>
              <a:t>•  It became visible within minutes in the lab: real benign web traffic, where connections legitimately carry FIN and PSH, was scored as anomalous and a normal client was quarantined.</a:t>
            </a:r>
          </a:p>
          <a:p>
            <a:pPr>
              <a:spcAft>
                <a:spcPts val="900"/>
              </a:spcAft>
            </a:pPr>
            <a:r>
              <a:rPr sz="1400">
                <a:solidFill>
                  <a:srgbClr val="15803D"/>
                </a:solidFill>
                <a:latin typeface="Segoe UI"/>
              </a:rPr>
              <a:t>•  All twelve flag features were removed, leaving 59 inputs. The offline cost was small, and benign live flows now score around 0.08 against the 0.146 threshold.</a:t>
            </a:r>
          </a:p>
        </p:txBody>
      </p:sp>
      <p:sp>
        <p:nvSpPr>
          <p:cNvPr id="10" name="Rounded Rectangle 9"/>
          <p:cNvSpPr/>
          <p:nvPr/>
        </p:nvSpPr>
        <p:spPr>
          <a:xfrm>
            <a:off x="822960" y="5440680"/>
            <a:ext cx="10545775" cy="86868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5577840"/>
            <a:ext cx="10088575" cy="640080"/>
          </a:xfrm>
          <a:prstGeom prst="rect">
            <a:avLst/>
          </a:prstGeom>
          <a:noFill/>
        </p:spPr>
        <p:txBody>
          <a:bodyPr wrap="square">
            <a:spAutoFit/>
          </a:bodyPr>
          <a:lstStyle/>
          <a:p>
            <a:pPr algn="l">
              <a:spcAft>
                <a:spcPts val="600"/>
              </a:spcAft>
            </a:pPr>
            <a:r>
              <a:rPr sz="1500" b="1" i="0">
                <a:solidFill>
                  <a:srgbClr val="0F172A"/>
                </a:solidFill>
                <a:latin typeface="Segoe UI"/>
              </a:rPr>
              <a:t>The general lesson: a model evaluated only against the dataset it was trained on can score well by learning that dataset's artefacts. Offline metrics cannot detect this. Live testing can, and did.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DISCUSSION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Limitations</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21</a:t>
            </a:r>
          </a:p>
        </p:txBody>
      </p:sp>
      <p:sp>
        <p:nvSpPr>
          <p:cNvPr id="6" name="Rounded Rectangle 5"/>
          <p:cNvSpPr/>
          <p:nvPr/>
        </p:nvSpPr>
        <p:spPr>
          <a:xfrm>
            <a:off x="822960" y="1737360"/>
            <a:ext cx="10545775" cy="841248"/>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78992" y="1828800"/>
            <a:ext cx="10033711" cy="713232"/>
          </a:xfrm>
          <a:prstGeom prst="rect">
            <a:avLst/>
          </a:prstGeom>
          <a:noFill/>
        </p:spPr>
        <p:txBody>
          <a:bodyPr wrap="square">
            <a:spAutoFit/>
          </a:bodyPr>
          <a:lstStyle/>
          <a:p>
            <a:pPr algn="l">
              <a:spcAft>
                <a:spcPts val="100"/>
              </a:spcAft>
            </a:pPr>
            <a:r>
              <a:rPr sz="1400" b="1" i="0">
                <a:solidFill>
                  <a:srgbClr val="B91C1C"/>
                </a:solidFill>
                <a:latin typeface="Segoe UI"/>
              </a:rPr>
              <a:t>Single dataset</a:t>
            </a:r>
          </a:p>
          <a:p>
            <a:pPr>
              <a:spcAft>
                <a:spcPts val="0"/>
              </a:spcAft>
            </a:pPr>
            <a:r>
              <a:rPr sz="1250" b="0" i="0">
                <a:solidFill>
                  <a:srgbClr val="334155"/>
                </a:solidFill>
                <a:latin typeface="Segoe UI"/>
              </a:rPr>
              <a:t>All learned components are trained and evaluated on CIC-IDS2017. Generalisation to another network is not demonstrated, and given the flag-counter finding it should not be assumed.</a:t>
            </a:r>
          </a:p>
        </p:txBody>
      </p:sp>
      <p:sp>
        <p:nvSpPr>
          <p:cNvPr id="8" name="Rounded Rectangle 7"/>
          <p:cNvSpPr/>
          <p:nvPr/>
        </p:nvSpPr>
        <p:spPr>
          <a:xfrm>
            <a:off x="822960" y="2651760"/>
            <a:ext cx="10545775" cy="841248"/>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78992" y="2743200"/>
            <a:ext cx="10033711" cy="713232"/>
          </a:xfrm>
          <a:prstGeom prst="rect">
            <a:avLst/>
          </a:prstGeom>
          <a:noFill/>
        </p:spPr>
        <p:txBody>
          <a:bodyPr wrap="square">
            <a:spAutoFit/>
          </a:bodyPr>
          <a:lstStyle/>
          <a:p>
            <a:pPr algn="l">
              <a:spcAft>
                <a:spcPts val="100"/>
              </a:spcAft>
            </a:pPr>
            <a:r>
              <a:rPr sz="1400" b="1" i="0">
                <a:solidFill>
                  <a:srgbClr val="B91C1C"/>
                </a:solidFill>
                <a:latin typeface="Segoe UI"/>
              </a:rPr>
              <a:t>Payload-blind</a:t>
            </a:r>
          </a:p>
          <a:p>
            <a:pPr>
              <a:spcAft>
                <a:spcPts val="0"/>
              </a:spcAft>
            </a:pPr>
            <a:r>
              <a:rPr sz="1250" b="0" i="0">
                <a:solidFill>
                  <a:srgbClr val="334155"/>
                </a:solidFill>
                <a:latin typeface="Segoe UI"/>
              </a:rPr>
              <a:t>No component inspects packet contents, so live WebAttack detection is weak and encrypted traffic is opaque to the flow-statistic detectors.</a:t>
            </a:r>
          </a:p>
        </p:txBody>
      </p:sp>
      <p:sp>
        <p:nvSpPr>
          <p:cNvPr id="10" name="Rounded Rectangle 9"/>
          <p:cNvSpPr/>
          <p:nvPr/>
        </p:nvSpPr>
        <p:spPr>
          <a:xfrm>
            <a:off x="822960" y="3566160"/>
            <a:ext cx="10545775" cy="841248"/>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78992" y="3657600"/>
            <a:ext cx="10033711" cy="713232"/>
          </a:xfrm>
          <a:prstGeom prst="rect">
            <a:avLst/>
          </a:prstGeom>
          <a:noFill/>
        </p:spPr>
        <p:txBody>
          <a:bodyPr wrap="square">
            <a:spAutoFit/>
          </a:bodyPr>
          <a:lstStyle/>
          <a:p>
            <a:pPr algn="l">
              <a:spcAft>
                <a:spcPts val="100"/>
              </a:spcAft>
            </a:pPr>
            <a:r>
              <a:rPr sz="1400" b="1" i="0">
                <a:solidFill>
                  <a:srgbClr val="B91C1C"/>
                </a:solidFill>
                <a:latin typeface="Segoe UI"/>
              </a:rPr>
              <a:t>Source-address response</a:t>
            </a:r>
          </a:p>
          <a:p>
            <a:pPr>
              <a:spcAft>
                <a:spcPts val="0"/>
              </a:spcAft>
            </a:pPr>
            <a:r>
              <a:rPr sz="1250" b="0" i="0">
                <a:solidFill>
                  <a:srgbClr val="334155"/>
                </a:solidFill>
                <a:latin typeface="Segoe UI"/>
              </a:rPr>
              <a:t>Blocking by source is defeated by spoofing and by distributed attacks, and could be weaponised by spoofing a legitimate address to get it blocked. Timed expiry and the never-block list bound the damage without eliminating it.</a:t>
            </a:r>
          </a:p>
        </p:txBody>
      </p:sp>
      <p:sp>
        <p:nvSpPr>
          <p:cNvPr id="12" name="Rounded Rectangle 11"/>
          <p:cNvSpPr/>
          <p:nvPr/>
        </p:nvSpPr>
        <p:spPr>
          <a:xfrm>
            <a:off x="822960" y="4480560"/>
            <a:ext cx="10545775" cy="841248"/>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78992" y="4572000"/>
            <a:ext cx="10033711" cy="713232"/>
          </a:xfrm>
          <a:prstGeom prst="rect">
            <a:avLst/>
          </a:prstGeom>
          <a:noFill/>
        </p:spPr>
        <p:txBody>
          <a:bodyPr wrap="square">
            <a:spAutoFit/>
          </a:bodyPr>
          <a:lstStyle/>
          <a:p>
            <a:pPr algn="l">
              <a:spcAft>
                <a:spcPts val="100"/>
              </a:spcAft>
            </a:pPr>
            <a:r>
              <a:rPr sz="1400" b="1" i="0">
                <a:solidFill>
                  <a:srgbClr val="B91C1C"/>
                </a:solidFill>
                <a:latin typeface="Segoe UI"/>
              </a:rPr>
              <a:t>Lab scale</a:t>
            </a:r>
          </a:p>
          <a:p>
            <a:pPr>
              <a:spcAft>
                <a:spcPts val="0"/>
              </a:spcAft>
            </a:pPr>
            <a:r>
              <a:rPr sz="1250" b="0" i="0">
                <a:solidFill>
                  <a:srgbClr val="334155"/>
                </a:solidFill>
                <a:latin typeface="Segoe UI"/>
              </a:rPr>
              <a:t>One attacker, one victim, one detector on a single host. Throughput under realistic volumes, and per-source state across many thousands of sources, are untested.</a:t>
            </a:r>
          </a:p>
        </p:txBody>
      </p:sp>
      <p:sp>
        <p:nvSpPr>
          <p:cNvPr id="14" name="Rounded Rectangle 13"/>
          <p:cNvSpPr/>
          <p:nvPr/>
        </p:nvSpPr>
        <p:spPr>
          <a:xfrm>
            <a:off x="822960" y="5394960"/>
            <a:ext cx="10545775" cy="841248"/>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78992" y="5486400"/>
            <a:ext cx="10033711" cy="713232"/>
          </a:xfrm>
          <a:prstGeom prst="rect">
            <a:avLst/>
          </a:prstGeom>
          <a:noFill/>
        </p:spPr>
        <p:txBody>
          <a:bodyPr wrap="square">
            <a:spAutoFit/>
          </a:bodyPr>
          <a:lstStyle/>
          <a:p>
            <a:pPr algn="l">
              <a:spcAft>
                <a:spcPts val="100"/>
              </a:spcAft>
            </a:pPr>
            <a:r>
              <a:rPr sz="1400" b="1" i="0">
                <a:solidFill>
                  <a:srgbClr val="B91C1C"/>
                </a:solidFill>
                <a:latin typeface="Segoe UI"/>
              </a:rPr>
              <a:t>Known attacks in the live test</a:t>
            </a:r>
          </a:p>
          <a:p>
            <a:pPr>
              <a:spcAft>
                <a:spcPts val="0"/>
              </a:spcAft>
            </a:pPr>
            <a:r>
              <a:rPr sz="1250" b="0" i="0">
                <a:solidFill>
                  <a:srgbClr val="334155"/>
                </a:solidFill>
                <a:latin typeface="Segoe UI"/>
              </a:rPr>
              <a:t>The four demonstrated attacks are ones the signature rules cover, so the live test does not independently validate the ML detectors against novel attacks. The offline results carry that argument.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CONCLUSION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Future work</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22</a:t>
            </a:r>
          </a:p>
        </p:txBody>
      </p:sp>
      <p:sp>
        <p:nvSpPr>
          <p:cNvPr id="6" name="Oval 5"/>
          <p:cNvSpPr/>
          <p:nvPr/>
        </p:nvSpPr>
        <p:spPr>
          <a:xfrm>
            <a:off x="822960" y="1874520"/>
            <a:ext cx="420624" cy="4206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i="0">
                <a:solidFill>
                  <a:srgbClr val="FFFFFF"/>
                </a:solidFill>
                <a:latin typeface="Segoe UI"/>
              </a:rPr>
              <a:t>1</a:t>
            </a:r>
          </a:p>
        </p:txBody>
      </p:sp>
      <p:sp>
        <p:nvSpPr>
          <p:cNvPr id="7" name="TextBox 6"/>
          <p:cNvSpPr txBox="1"/>
          <p:nvPr/>
        </p:nvSpPr>
        <p:spPr>
          <a:xfrm>
            <a:off x="1508760" y="1783080"/>
            <a:ext cx="9722815" cy="777240"/>
          </a:xfrm>
          <a:prstGeom prst="rect">
            <a:avLst/>
          </a:prstGeom>
          <a:noFill/>
        </p:spPr>
        <p:txBody>
          <a:bodyPr wrap="square">
            <a:spAutoFit/>
          </a:bodyPr>
          <a:lstStyle/>
          <a:p>
            <a:pPr algn="l">
              <a:spcAft>
                <a:spcPts val="100"/>
              </a:spcAft>
            </a:pPr>
            <a:r>
              <a:rPr sz="1600" b="1" i="0">
                <a:solidFill>
                  <a:srgbClr val="0F172A"/>
                </a:solidFill>
                <a:latin typeface="Segoe UI"/>
              </a:rPr>
              <a:t>Cross-dataset evaluation</a:t>
            </a:r>
          </a:p>
          <a:p>
            <a:pPr>
              <a:spcAft>
                <a:spcPts val="0"/>
              </a:spcAft>
            </a:pPr>
            <a:r>
              <a:rPr sz="1300" b="0" i="0">
                <a:solidFill>
                  <a:srgbClr val="334155"/>
                </a:solidFill>
                <a:latin typeface="Segoe UI"/>
              </a:rPr>
              <a:t>Measure how much of this performance is specific to CIC-IDS2017 by testing against UNSW-NB15 [2].</a:t>
            </a:r>
          </a:p>
        </p:txBody>
      </p:sp>
      <p:sp>
        <p:nvSpPr>
          <p:cNvPr id="8" name="Oval 7"/>
          <p:cNvSpPr/>
          <p:nvPr/>
        </p:nvSpPr>
        <p:spPr>
          <a:xfrm>
            <a:off x="822960" y="2715768"/>
            <a:ext cx="420624" cy="4206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i="0">
                <a:solidFill>
                  <a:srgbClr val="FFFFFF"/>
                </a:solidFill>
                <a:latin typeface="Segoe UI"/>
              </a:rPr>
              <a:t>2</a:t>
            </a:r>
          </a:p>
        </p:txBody>
      </p:sp>
      <p:sp>
        <p:nvSpPr>
          <p:cNvPr id="9" name="TextBox 8"/>
          <p:cNvSpPr txBox="1"/>
          <p:nvPr/>
        </p:nvSpPr>
        <p:spPr>
          <a:xfrm>
            <a:off x="1508760" y="2624328"/>
            <a:ext cx="9722815" cy="777240"/>
          </a:xfrm>
          <a:prstGeom prst="rect">
            <a:avLst/>
          </a:prstGeom>
          <a:noFill/>
        </p:spPr>
        <p:txBody>
          <a:bodyPr wrap="square">
            <a:spAutoFit/>
          </a:bodyPr>
          <a:lstStyle/>
          <a:p>
            <a:pPr algn="l">
              <a:spcAft>
                <a:spcPts val="100"/>
              </a:spcAft>
            </a:pPr>
            <a:r>
              <a:rPr sz="1600" b="1" i="0">
                <a:solidFill>
                  <a:srgbClr val="0F172A"/>
                </a:solidFill>
                <a:latin typeface="Segoe UI"/>
              </a:rPr>
              <a:t>Payload features</a:t>
            </a:r>
          </a:p>
          <a:p>
            <a:pPr>
              <a:spcAft>
                <a:spcPts val="0"/>
              </a:spcAft>
            </a:pPr>
            <a:r>
              <a:rPr sz="1300" b="0" i="0">
                <a:solidFill>
                  <a:srgbClr val="334155"/>
                </a:solidFill>
                <a:latin typeface="Segoe UI"/>
              </a:rPr>
              <a:t>Address the WebAttack and Bot weakness directly, which flow statistics provably cannot separate.</a:t>
            </a:r>
          </a:p>
        </p:txBody>
      </p:sp>
      <p:sp>
        <p:nvSpPr>
          <p:cNvPr id="10" name="Oval 9"/>
          <p:cNvSpPr/>
          <p:nvPr/>
        </p:nvSpPr>
        <p:spPr>
          <a:xfrm>
            <a:off x="822960" y="3557016"/>
            <a:ext cx="420624" cy="4206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i="0">
                <a:solidFill>
                  <a:srgbClr val="FFFFFF"/>
                </a:solidFill>
                <a:latin typeface="Segoe UI"/>
              </a:rPr>
              <a:t>3</a:t>
            </a:r>
          </a:p>
        </p:txBody>
      </p:sp>
      <p:sp>
        <p:nvSpPr>
          <p:cNvPr id="11" name="TextBox 10"/>
          <p:cNvSpPr txBox="1"/>
          <p:nvPr/>
        </p:nvSpPr>
        <p:spPr>
          <a:xfrm>
            <a:off x="1508760" y="3465576"/>
            <a:ext cx="9722815" cy="777240"/>
          </a:xfrm>
          <a:prstGeom prst="rect">
            <a:avLst/>
          </a:prstGeom>
          <a:noFill/>
        </p:spPr>
        <p:txBody>
          <a:bodyPr wrap="square">
            <a:spAutoFit/>
          </a:bodyPr>
          <a:lstStyle/>
          <a:p>
            <a:pPr algn="l">
              <a:spcAft>
                <a:spcPts val="100"/>
              </a:spcAft>
            </a:pPr>
            <a:r>
              <a:rPr sz="1600" b="1" i="0">
                <a:solidFill>
                  <a:srgbClr val="0F172A"/>
                </a:solidFill>
                <a:latin typeface="Segoe UI"/>
              </a:rPr>
              <a:t>Online adaptation</a:t>
            </a:r>
          </a:p>
          <a:p>
            <a:pPr>
              <a:spcAft>
                <a:spcPts val="0"/>
              </a:spcAft>
            </a:pPr>
            <a:r>
              <a:rPr sz="1300" b="0" i="0">
                <a:solidFill>
                  <a:srgbClr val="334155"/>
                </a:solidFill>
                <a:latin typeface="Segoe UI"/>
              </a:rPr>
              <a:t>Recalibrate the autoencoder threshold against the deployment network's own benign traffic rather than the dataset's.</a:t>
            </a:r>
          </a:p>
        </p:txBody>
      </p:sp>
      <p:sp>
        <p:nvSpPr>
          <p:cNvPr id="12" name="Oval 11"/>
          <p:cNvSpPr/>
          <p:nvPr/>
        </p:nvSpPr>
        <p:spPr>
          <a:xfrm>
            <a:off x="822960" y="4398264"/>
            <a:ext cx="420624" cy="4206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i="0">
                <a:solidFill>
                  <a:srgbClr val="FFFFFF"/>
                </a:solidFill>
                <a:latin typeface="Segoe UI"/>
              </a:rPr>
              <a:t>4</a:t>
            </a:r>
          </a:p>
        </p:txBody>
      </p:sp>
      <p:sp>
        <p:nvSpPr>
          <p:cNvPr id="13" name="TextBox 12"/>
          <p:cNvSpPr txBox="1"/>
          <p:nvPr/>
        </p:nvSpPr>
        <p:spPr>
          <a:xfrm>
            <a:off x="1508760" y="4306824"/>
            <a:ext cx="9722815" cy="777240"/>
          </a:xfrm>
          <a:prstGeom prst="rect">
            <a:avLst/>
          </a:prstGeom>
          <a:noFill/>
        </p:spPr>
        <p:txBody>
          <a:bodyPr wrap="square">
            <a:spAutoFit/>
          </a:bodyPr>
          <a:lstStyle/>
          <a:p>
            <a:pPr algn="l">
              <a:spcAft>
                <a:spcPts val="100"/>
              </a:spcAft>
            </a:pPr>
            <a:r>
              <a:rPr sz="1600" b="1" i="0">
                <a:solidFill>
                  <a:srgbClr val="0F172A"/>
                </a:solidFill>
                <a:latin typeface="Segoe UI"/>
              </a:rPr>
              <a:t>Richer response</a:t>
            </a:r>
          </a:p>
          <a:p>
            <a:pPr>
              <a:spcAft>
                <a:spcPts val="0"/>
              </a:spcAft>
            </a:pPr>
            <a:r>
              <a:rPr sz="1300" b="0" i="0">
                <a:solidFill>
                  <a:srgbClr val="334155"/>
                </a:solidFill>
                <a:latin typeface="Segoe UI"/>
              </a:rPr>
              <a:t>Honeypot redirection, graduated rate limiting before outright blocking, and enforcement through an external firewall API.</a:t>
            </a:r>
          </a:p>
        </p:txBody>
      </p:sp>
      <p:sp>
        <p:nvSpPr>
          <p:cNvPr id="14" name="Oval 13"/>
          <p:cNvSpPr/>
          <p:nvPr/>
        </p:nvSpPr>
        <p:spPr>
          <a:xfrm>
            <a:off x="822960" y="5239512"/>
            <a:ext cx="420624" cy="42062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1500" b="1" i="0">
                <a:solidFill>
                  <a:srgbClr val="FFFFFF"/>
                </a:solidFill>
                <a:latin typeface="Segoe UI"/>
              </a:rPr>
              <a:t>5</a:t>
            </a:r>
          </a:p>
        </p:txBody>
      </p:sp>
      <p:sp>
        <p:nvSpPr>
          <p:cNvPr id="15" name="TextBox 14"/>
          <p:cNvSpPr txBox="1"/>
          <p:nvPr/>
        </p:nvSpPr>
        <p:spPr>
          <a:xfrm>
            <a:off x="1508760" y="5148072"/>
            <a:ext cx="9722815" cy="777240"/>
          </a:xfrm>
          <a:prstGeom prst="rect">
            <a:avLst/>
          </a:prstGeom>
          <a:noFill/>
        </p:spPr>
        <p:txBody>
          <a:bodyPr wrap="square">
            <a:spAutoFit/>
          </a:bodyPr>
          <a:lstStyle/>
          <a:p>
            <a:pPr algn="l">
              <a:spcAft>
                <a:spcPts val="100"/>
              </a:spcAft>
            </a:pPr>
            <a:r>
              <a:rPr sz="1600" b="1" i="0">
                <a:solidFill>
                  <a:srgbClr val="0F172A"/>
                </a:solidFill>
                <a:latin typeface="Segoe UI"/>
              </a:rPr>
              <a:t>Ensemble anomaly detection</a:t>
            </a:r>
          </a:p>
          <a:p>
            <a:pPr>
              <a:spcAft>
                <a:spcPts val="0"/>
              </a:spcAft>
            </a:pPr>
            <a:r>
              <a:rPr sz="1300" b="0" i="0">
                <a:solidFill>
                  <a:srgbClr val="334155"/>
                </a:solidFill>
                <a:latin typeface="Segoe UI"/>
              </a:rPr>
              <a:t>Test whether an ensemble of small autoencoders over feature subsets, as in Kitsune [4], beats the single network used here.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spAutoFit/>
          </a:bodyPr>
          <a:lstStyle/>
          <a:p>
            <a:pPr algn="l">
              <a:spcAft>
                <a:spcPts val="0"/>
              </a:spcAft>
            </a:pPr>
            <a:r>
              <a:rPr sz="1200" b="1" i="0">
                <a:solidFill>
                  <a:srgbClr val="0EA5E9"/>
                </a:solidFill>
                <a:latin typeface="Segoe UI"/>
              </a:rPr>
              <a:t>CONCLUSION</a:t>
            </a:r>
          </a:p>
        </p:txBody>
      </p:sp>
      <p:sp>
        <p:nvSpPr>
          <p:cNvPr id="3" name="TextBox 2"/>
          <p:cNvSpPr txBox="1"/>
          <p:nvPr/>
        </p:nvSpPr>
        <p:spPr>
          <a:xfrm>
            <a:off x="822960" y="813816"/>
            <a:ext cx="10545775" cy="640080"/>
          </a:xfrm>
          <a:prstGeom prst="rect">
            <a:avLst/>
          </a:prstGeom>
          <a:noFill/>
        </p:spPr>
        <p:txBody>
          <a:bodyPr wrap="square">
            <a:spAutoFit/>
          </a:bodyPr>
          <a:lstStyle/>
          <a:p>
            <a:pPr algn="l">
              <a:spcAft>
                <a:spcPts val="0"/>
              </a:spcAft>
            </a:pPr>
            <a:r>
              <a:rPr sz="3200" b="1" i="0">
                <a:solidFill>
                  <a:srgbClr val="0F172A"/>
                </a:solidFill>
                <a:latin typeface="Segoe UI"/>
              </a:rPr>
              <a:t>Conclusion</a:t>
            </a:r>
          </a:p>
        </p:txBody>
      </p:sp>
      <p:sp>
        <p:nvSpPr>
          <p:cNvPr id="4" name="Rectangle 3"/>
          <p:cNvSpPr/>
          <p:nvPr/>
        </p:nvSpPr>
        <p:spPr>
          <a:xfrm>
            <a:off x="822960" y="1472184"/>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23</a:t>
            </a:r>
          </a:p>
        </p:txBody>
      </p:sp>
      <p:sp>
        <p:nvSpPr>
          <p:cNvPr id="6" name="Rounded Rectangle 5"/>
          <p:cNvSpPr/>
          <p:nvPr/>
        </p:nvSpPr>
        <p:spPr>
          <a:xfrm>
            <a:off x="822960" y="1737360"/>
            <a:ext cx="2512999" cy="11430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60" y="1865376"/>
            <a:ext cx="2512999" cy="502920"/>
          </a:xfrm>
          <a:prstGeom prst="rect">
            <a:avLst/>
          </a:prstGeom>
          <a:noFill/>
        </p:spPr>
        <p:txBody>
          <a:bodyPr wrap="square">
            <a:spAutoFit/>
          </a:bodyPr>
          <a:lstStyle/>
          <a:p>
            <a:pPr algn="ctr">
              <a:spcAft>
                <a:spcPts val="0"/>
              </a:spcAft>
            </a:pPr>
            <a:r>
              <a:rPr sz="2800" b="1" i="0">
                <a:solidFill>
                  <a:srgbClr val="0EA5E9"/>
                </a:solidFill>
                <a:latin typeface="Segoe UI"/>
              </a:rPr>
              <a:t>0.9570</a:t>
            </a:r>
          </a:p>
        </p:txBody>
      </p:sp>
      <p:sp>
        <p:nvSpPr>
          <p:cNvPr id="8" name="TextBox 7"/>
          <p:cNvSpPr txBox="1"/>
          <p:nvPr/>
        </p:nvSpPr>
        <p:spPr>
          <a:xfrm>
            <a:off x="822960" y="235915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Full model macro F1</a:t>
            </a:r>
          </a:p>
        </p:txBody>
      </p:sp>
      <p:sp>
        <p:nvSpPr>
          <p:cNvPr id="9" name="Rounded Rectangle 8"/>
          <p:cNvSpPr/>
          <p:nvPr/>
        </p:nvSpPr>
        <p:spPr>
          <a:xfrm>
            <a:off x="3500551" y="1737360"/>
            <a:ext cx="2512999" cy="11430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500551" y="1865376"/>
            <a:ext cx="2512999" cy="502920"/>
          </a:xfrm>
          <a:prstGeom prst="rect">
            <a:avLst/>
          </a:prstGeom>
          <a:noFill/>
        </p:spPr>
        <p:txBody>
          <a:bodyPr wrap="square">
            <a:spAutoFit/>
          </a:bodyPr>
          <a:lstStyle/>
          <a:p>
            <a:pPr algn="ctr">
              <a:spcAft>
                <a:spcPts val="0"/>
              </a:spcAft>
            </a:pPr>
            <a:r>
              <a:rPr sz="2800" b="1" i="0">
                <a:solidFill>
                  <a:srgbClr val="0EA5E9"/>
                </a:solidFill>
                <a:latin typeface="Segoe UI"/>
              </a:rPr>
              <a:t>0.8400</a:t>
            </a:r>
          </a:p>
        </p:txBody>
      </p:sp>
      <p:sp>
        <p:nvSpPr>
          <p:cNvPr id="11" name="TextBox 10"/>
          <p:cNvSpPr txBox="1"/>
          <p:nvPr/>
        </p:nvSpPr>
        <p:spPr>
          <a:xfrm>
            <a:off x="3500551" y="235915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Lite model macro F1</a:t>
            </a:r>
          </a:p>
        </p:txBody>
      </p:sp>
      <p:sp>
        <p:nvSpPr>
          <p:cNvPr id="12" name="Rounded Rectangle 11"/>
          <p:cNvSpPr/>
          <p:nvPr/>
        </p:nvSpPr>
        <p:spPr>
          <a:xfrm>
            <a:off x="6178142" y="1737360"/>
            <a:ext cx="2512999" cy="11430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78142" y="1865376"/>
            <a:ext cx="2512999" cy="502920"/>
          </a:xfrm>
          <a:prstGeom prst="rect">
            <a:avLst/>
          </a:prstGeom>
          <a:noFill/>
        </p:spPr>
        <p:txBody>
          <a:bodyPr wrap="square">
            <a:spAutoFit/>
          </a:bodyPr>
          <a:lstStyle/>
          <a:p>
            <a:pPr algn="ctr">
              <a:spcAft>
                <a:spcPts val="0"/>
              </a:spcAft>
            </a:pPr>
            <a:r>
              <a:rPr sz="2800" b="1" i="0">
                <a:solidFill>
                  <a:srgbClr val="0EA5E9"/>
                </a:solidFill>
                <a:latin typeface="Segoe UI"/>
              </a:rPr>
              <a:t>0.9603</a:t>
            </a:r>
          </a:p>
        </p:txBody>
      </p:sp>
      <p:sp>
        <p:nvSpPr>
          <p:cNvPr id="14" name="TextBox 13"/>
          <p:cNvSpPr txBox="1"/>
          <p:nvPr/>
        </p:nvSpPr>
        <p:spPr>
          <a:xfrm>
            <a:off x="6178142" y="235915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Autoencoder ROC-AUC</a:t>
            </a:r>
          </a:p>
        </p:txBody>
      </p:sp>
      <p:sp>
        <p:nvSpPr>
          <p:cNvPr id="15" name="Rounded Rectangle 14"/>
          <p:cNvSpPr/>
          <p:nvPr/>
        </p:nvSpPr>
        <p:spPr>
          <a:xfrm>
            <a:off x="8855733" y="1737360"/>
            <a:ext cx="2512999" cy="11430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855733" y="1865376"/>
            <a:ext cx="2512999" cy="502920"/>
          </a:xfrm>
          <a:prstGeom prst="rect">
            <a:avLst/>
          </a:prstGeom>
          <a:noFill/>
        </p:spPr>
        <p:txBody>
          <a:bodyPr wrap="square">
            <a:spAutoFit/>
          </a:bodyPr>
          <a:lstStyle/>
          <a:p>
            <a:pPr algn="ctr">
              <a:spcAft>
                <a:spcPts val="0"/>
              </a:spcAft>
            </a:pPr>
            <a:r>
              <a:rPr sz="2800" b="1" i="0">
                <a:solidFill>
                  <a:srgbClr val="15803D"/>
                </a:solidFill>
                <a:latin typeface="Segoe UI"/>
              </a:rPr>
              <a:t>4 / 4</a:t>
            </a:r>
          </a:p>
        </p:txBody>
      </p:sp>
      <p:sp>
        <p:nvSpPr>
          <p:cNvPr id="17" name="TextBox 16"/>
          <p:cNvSpPr txBox="1"/>
          <p:nvPr/>
        </p:nvSpPr>
        <p:spPr>
          <a:xfrm>
            <a:off x="8855733" y="2359152"/>
            <a:ext cx="2512999" cy="365760"/>
          </a:xfrm>
          <a:prstGeom prst="rect">
            <a:avLst/>
          </a:prstGeom>
          <a:noFill/>
        </p:spPr>
        <p:txBody>
          <a:bodyPr wrap="square">
            <a:spAutoFit/>
          </a:bodyPr>
          <a:lstStyle/>
          <a:p>
            <a:pPr algn="ctr">
              <a:spcAft>
                <a:spcPts val="0"/>
              </a:spcAft>
            </a:pPr>
            <a:r>
              <a:rPr sz="1200" b="0" i="0">
                <a:solidFill>
                  <a:srgbClr val="64748B"/>
                </a:solidFill>
                <a:latin typeface="Segoe UI"/>
              </a:rPr>
              <a:t>Live attacks detected
and blocked</a:t>
            </a:r>
          </a:p>
        </p:txBody>
      </p:sp>
      <p:sp>
        <p:nvSpPr>
          <p:cNvPr id="18" name="TextBox 17"/>
          <p:cNvSpPr txBox="1"/>
          <p:nvPr/>
        </p:nvSpPr>
        <p:spPr>
          <a:xfrm>
            <a:off x="822960" y="3200400"/>
            <a:ext cx="10545775" cy="3017520"/>
          </a:xfrm>
          <a:prstGeom prst="rect">
            <a:avLst/>
          </a:prstGeom>
          <a:noFill/>
        </p:spPr>
        <p:txBody>
          <a:bodyPr wrap="square">
            <a:spAutoFit/>
          </a:bodyPr>
          <a:lstStyle/>
          <a:p>
            <a:pPr algn="l">
              <a:spcAft>
                <a:spcPts val="1200"/>
              </a:spcAft>
            </a:pPr>
            <a:r>
              <a:rPr sz="1500">
                <a:solidFill>
                  <a:srgbClr val="334155"/>
                </a:solidFill>
                <a:latin typeface="Segoe UI"/>
              </a:rPr>
              <a:t>•  Signature rules, supervised classification and unsupervised anomaly detection can be combined under an explicit fusion policy and coupled to an automated response, on hardware as modest as a single laptop.</a:t>
            </a:r>
          </a:p>
          <a:p>
            <a:pPr>
              <a:spcAft>
                <a:spcPts val="1200"/>
              </a:spcAft>
            </a:pPr>
            <a:r>
              <a:rPr sz="1500">
                <a:solidFill>
                  <a:srgbClr val="334155"/>
                </a:solidFill>
                <a:latin typeface="Segoe UI"/>
              </a:rPr>
              <a:t>•  The full model reaches macro F1 0.9570 at a 0.11% false-positive rate; the six-feature live model reaches 0.8400; the autoencoder adds label-free coverage of denial-of-service-shaped anomalies at ROC-AUC 0.9603.</a:t>
            </a:r>
          </a:p>
          <a:p>
            <a:pPr>
              <a:spcAft>
                <a:spcPts val="1200"/>
              </a:spcAft>
            </a:pPr>
            <a:r>
              <a:rPr sz="1500">
                <a:solidFill>
                  <a:srgbClr val="334155"/>
                </a:solidFill>
                <a:latin typeface="Segoe UI"/>
              </a:rPr>
              <a:t>•  In live operation against four real attack tools, every attack was detected within about a second and answered with a timed, reversible firewall rule, while ordinary traffic raised no alert.</a:t>
            </a:r>
          </a:p>
        </p:txBody>
      </p:sp>
      <p:sp>
        <p:nvSpPr>
          <p:cNvPr id="19" name="Rounded Rectangle 18"/>
          <p:cNvSpPr/>
          <p:nvPr/>
        </p:nvSpPr>
        <p:spPr>
          <a:xfrm>
            <a:off x="822960" y="5074920"/>
            <a:ext cx="10545775" cy="105156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97280" y="5230368"/>
            <a:ext cx="9997135" cy="822960"/>
          </a:xfrm>
          <a:prstGeom prst="rect">
            <a:avLst/>
          </a:prstGeom>
          <a:noFill/>
        </p:spPr>
        <p:txBody>
          <a:bodyPr wrap="square">
            <a:spAutoFit/>
          </a:bodyPr>
          <a:lstStyle/>
          <a:p>
            <a:pPr algn="l">
              <a:spcAft>
                <a:spcPts val="600"/>
              </a:spcAft>
            </a:pPr>
            <a:r>
              <a:rPr sz="1500" b="1" i="0">
                <a:solidFill>
                  <a:srgbClr val="0EA5E9"/>
                </a:solidFill>
                <a:latin typeface="Segoe UI"/>
              </a:rPr>
              <a:t>The most useful result may be the negative one.</a:t>
            </a:r>
          </a:p>
          <a:p>
            <a:pPr>
              <a:spcAft>
                <a:spcPts val="600"/>
              </a:spcAft>
            </a:pPr>
            <a:r>
              <a:rPr sz="1400" b="0" i="0">
                <a:solidFill>
                  <a:srgbClr val="FFFFFF"/>
                </a:solidFill>
                <a:latin typeface="Segoe UI"/>
              </a:rPr>
              <a:t>An entire family of features in a widely used benchmark is unusable, models trained on it look excellent offline and fail on real packets, and only live testing revealed it. Work that reports offline metrics alone cannot rule out this class of error.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502920"/>
            <a:ext cx="10545775" cy="640080"/>
          </a:xfrm>
          <a:prstGeom prst="rect">
            <a:avLst/>
          </a:prstGeom>
          <a:noFill/>
        </p:spPr>
        <p:txBody>
          <a:bodyPr wrap="square">
            <a:spAutoFit/>
          </a:bodyPr>
          <a:lstStyle/>
          <a:p>
            <a:pPr algn="l">
              <a:spcAft>
                <a:spcPts val="0"/>
              </a:spcAft>
            </a:pPr>
            <a:r>
              <a:rPr sz="3200" b="1" i="0">
                <a:solidFill>
                  <a:srgbClr val="0F172A"/>
                </a:solidFill>
                <a:latin typeface="Segoe UI"/>
              </a:rPr>
              <a:t>References</a:t>
            </a:r>
          </a:p>
        </p:txBody>
      </p:sp>
      <p:sp>
        <p:nvSpPr>
          <p:cNvPr id="3" name="Rectangle 2"/>
          <p:cNvSpPr/>
          <p:nvPr/>
        </p:nvSpPr>
        <p:spPr>
          <a:xfrm>
            <a:off x="822960" y="1161288"/>
            <a:ext cx="128016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291072"/>
            <a:ext cx="640080" cy="320040"/>
          </a:xfrm>
          <a:prstGeom prst="rect">
            <a:avLst/>
          </a:prstGeom>
          <a:noFill/>
        </p:spPr>
        <p:txBody>
          <a:bodyPr wrap="square">
            <a:spAutoFit/>
          </a:bodyPr>
          <a:lstStyle/>
          <a:p>
            <a:pPr algn="r">
              <a:spcAft>
                <a:spcPts val="600"/>
              </a:spcAft>
            </a:pPr>
            <a:r>
              <a:rPr sz="1100" b="0" i="0">
                <a:solidFill>
                  <a:srgbClr val="64748B"/>
                </a:solidFill>
                <a:latin typeface="Segoe UI"/>
              </a:rPr>
              <a:t>24</a:t>
            </a:r>
          </a:p>
        </p:txBody>
      </p:sp>
      <p:sp>
        <p:nvSpPr>
          <p:cNvPr id="5" name="TextBox 4"/>
          <p:cNvSpPr txBox="1"/>
          <p:nvPr/>
        </p:nvSpPr>
        <p:spPr>
          <a:xfrm>
            <a:off x="822960" y="1783080"/>
            <a:ext cx="10545775" cy="4206240"/>
          </a:xfrm>
          <a:prstGeom prst="rect">
            <a:avLst/>
          </a:prstGeom>
          <a:noFill/>
        </p:spPr>
        <p:txBody>
          <a:bodyPr wrap="square">
            <a:spAutoFit/>
          </a:bodyPr>
          <a:lstStyle/>
          <a:p>
            <a:pPr algn="l">
              <a:spcAft>
                <a:spcPts val="1300"/>
              </a:spcAft>
            </a:pPr>
            <a:r>
              <a:rPr sz="1400">
                <a:solidFill>
                  <a:srgbClr val="334155"/>
                </a:solidFill>
                <a:latin typeface="Segoe UI"/>
              </a:rPr>
              <a:t>[1]  Sharafaldin, I., Lashkari, A. H., and Ghorbani, A. A. (2018). Toward Generating a New Intrusion Detection Dataset and Intrusion Traffic Characterization. ICISSP.</a:t>
            </a:r>
          </a:p>
          <a:p>
            <a:pPr>
              <a:spcAft>
                <a:spcPts val="1300"/>
              </a:spcAft>
            </a:pPr>
            <a:r>
              <a:rPr sz="1400">
                <a:solidFill>
                  <a:srgbClr val="334155"/>
                </a:solidFill>
                <a:latin typeface="Segoe UI"/>
              </a:rPr>
              <a:t>[2]  Moustafa, N., and Slay, J. (2015). UNSW-NB15: a comprehensive data set for network intrusion detection systems. MilCIS, IEEE.</a:t>
            </a:r>
          </a:p>
          <a:p>
            <a:pPr>
              <a:spcAft>
                <a:spcPts val="1300"/>
              </a:spcAft>
            </a:pPr>
            <a:r>
              <a:rPr sz="1400">
                <a:solidFill>
                  <a:srgbClr val="334155"/>
                </a:solidFill>
                <a:latin typeface="Segoe UI"/>
              </a:rPr>
              <a:t>[3]  Tavallaee, M., Bagheri, E., Lu, W., and Ghorbani, A. A. (2009). A Detailed Analysis of the KDD CUP 99 Data Set. IEEE CISDA.</a:t>
            </a:r>
          </a:p>
          <a:p>
            <a:pPr>
              <a:spcAft>
                <a:spcPts val="1300"/>
              </a:spcAft>
            </a:pPr>
            <a:r>
              <a:rPr sz="1400">
                <a:solidFill>
                  <a:srgbClr val="334155"/>
                </a:solidFill>
                <a:latin typeface="Segoe UI"/>
              </a:rPr>
              <a:t>[4]  Mirsky, Y., Doshi, T., Ju, M., Elovici, Y., and Shabtai, A. (2018). Kitsune: An Ensemble of Autoencoders for Online Network Intrusion Detection. NDSS.</a:t>
            </a:r>
          </a:p>
          <a:p>
            <a:pPr>
              <a:spcAft>
                <a:spcPts val="1300"/>
              </a:spcAft>
            </a:pPr>
            <a:r>
              <a:rPr sz="1400">
                <a:solidFill>
                  <a:srgbClr val="334155"/>
                </a:solidFill>
                <a:latin typeface="Segoe UI"/>
              </a:rPr>
              <a:t>[5]  Ring, M., Wunderlich, S., Scheuring, D., Landes, D., and Hotho, A. (2019). A Survey of Network-based Intrusion Detection Data Sets. Computers and Security, 86, 147-167.</a:t>
            </a:r>
          </a:p>
          <a:p>
            <a:pPr>
              <a:spcAft>
                <a:spcPts val="1300"/>
              </a:spcAft>
            </a:pPr>
            <a:r>
              <a:rPr sz="1400">
                <a:solidFill>
                  <a:srgbClr val="334155"/>
                </a:solidFill>
                <a:latin typeface="Segoe UI"/>
              </a:rPr>
              <a:t>[6]  Engelen, G., Rimmer, V., and Joosen, W. (2021). Troubleshooting an Intrusion Detection Dataset: the CICIDS2017 Case Study. IEEE Security and Privacy Workshops (SPW).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545775" cy="914400"/>
          </a:xfrm>
          <a:prstGeom prst="rect">
            <a:avLst/>
          </a:prstGeom>
          <a:noFill/>
        </p:spPr>
        <p:txBody>
          <a:bodyPr wrap="square">
            <a:spAutoFit/>
          </a:bodyPr>
          <a:lstStyle/>
          <a:p>
            <a:pPr algn="l">
              <a:spcAft>
                <a:spcPts val="0"/>
              </a:spcAft>
            </a:pPr>
            <a:r>
              <a:rPr sz="5000" b="1" i="0">
                <a:solidFill>
                  <a:srgbClr val="FFFFFF"/>
                </a:solidFill>
                <a:latin typeface="Segoe UI"/>
              </a:rPr>
              <a:t>Thank you</a:t>
            </a:r>
          </a:p>
        </p:txBody>
      </p:sp>
      <p:sp>
        <p:nvSpPr>
          <p:cNvPr id="4" name="Rectangle 3"/>
          <p:cNvSpPr/>
          <p:nvPr/>
        </p:nvSpPr>
        <p:spPr>
          <a:xfrm>
            <a:off x="822960" y="3611880"/>
            <a:ext cx="2011680" cy="3810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977639"/>
            <a:ext cx="10545775" cy="548640"/>
          </a:xfrm>
          <a:prstGeom prst="rect">
            <a:avLst/>
          </a:prstGeom>
          <a:noFill/>
        </p:spPr>
        <p:txBody>
          <a:bodyPr wrap="square">
            <a:spAutoFit/>
          </a:bodyPr>
          <a:lstStyle/>
          <a:p>
            <a:pPr algn="l">
              <a:spcAft>
                <a:spcPts val="600"/>
              </a:spcAft>
            </a:pPr>
            <a:r>
              <a:rPr sz="2000" b="0" i="0">
                <a:solidFill>
                  <a:srgbClr val="CBD5E1"/>
                </a:solidFill>
                <a:latin typeface="Segoe UI"/>
              </a:rPr>
              <a:t>Questions, and a live demonstration of the attack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